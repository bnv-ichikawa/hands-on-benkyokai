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ffc0979d484a58" /><Relationship Type="http://schemas.openxmlformats.org/officeDocument/2006/relationships/extended-properties" Target="/docProps/app.xml" Id="R153564ef89b94b15" /><Relationship Type="http://schemas.openxmlformats.org/officeDocument/2006/relationships/officeDocument" Target="/ppt/presentation.xml" Id="Rf8437011980f426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35a23b5d76417e"/>
  </p:sldMasterIdLst>
  <p:notesMasterIdLst>
    <p:notesMasterId xmlns:r="http://schemas.openxmlformats.org/officeDocument/2006/relationships" r:id="R47c290b9f76f4d56"/>
  </p:notesMasterIdLst>
  <p:sldIdLst>
    <p:sldId xmlns:r="http://schemas.openxmlformats.org/officeDocument/2006/relationships" id="256" r:id="R94e1b9cfabba4cd8"/>
    <p:sldId xmlns:r="http://schemas.openxmlformats.org/officeDocument/2006/relationships" id="257" r:id="Rfa9e8b2350c34a59"/>
    <p:sldId xmlns:r="http://schemas.openxmlformats.org/officeDocument/2006/relationships" id="258" r:id="Ra6e850f96e3e4738"/>
    <p:sldId xmlns:r="http://schemas.openxmlformats.org/officeDocument/2006/relationships" id="259" r:id="R5463d00380ec471f"/>
    <p:sldId xmlns:r="http://schemas.openxmlformats.org/officeDocument/2006/relationships" id="260" r:id="R60dce56a41fd4f2a"/>
    <p:sldId xmlns:r="http://schemas.openxmlformats.org/officeDocument/2006/relationships" id="261" r:id="Ra5982d5062a144f1"/>
    <p:sldId xmlns:r="http://schemas.openxmlformats.org/officeDocument/2006/relationships" id="262" r:id="R71af583c412f4290"/>
    <p:sldId xmlns:r="http://schemas.openxmlformats.org/officeDocument/2006/relationships" id="263" r:id="R9d49db4566084c1e"/>
    <p:sldId xmlns:r="http://schemas.openxmlformats.org/officeDocument/2006/relationships" id="264" r:id="R3ab208cd52d3483a"/>
    <p:sldId xmlns:r="http://schemas.openxmlformats.org/officeDocument/2006/relationships" id="265" r:id="R9644947cbd294001"/>
    <p:sldId xmlns:r="http://schemas.openxmlformats.org/officeDocument/2006/relationships" id="266" r:id="R6825b1ea57c34b09"/>
    <p:sldId xmlns:r="http://schemas.openxmlformats.org/officeDocument/2006/relationships" id="267" r:id="R20263d9b8428402d"/>
    <p:sldId xmlns:r="http://schemas.openxmlformats.org/officeDocument/2006/relationships" id="268" r:id="R0d08b33cb7704883"/>
    <p:sldId xmlns:r="http://schemas.openxmlformats.org/officeDocument/2006/relationships" id="269" r:id="Rb6ba3e9d94fa45a2"/>
    <p:sldId xmlns:r="http://schemas.openxmlformats.org/officeDocument/2006/relationships" id="270" r:id="Rc20759a25d124947"/>
    <p:sldId xmlns:r="http://schemas.openxmlformats.org/officeDocument/2006/relationships" id="271" r:id="R666bb0a868c54748"/>
    <p:sldId xmlns:r="http://schemas.openxmlformats.org/officeDocument/2006/relationships" id="272" r:id="Rd9cea4a6cdd443f2"/>
    <p:sldId xmlns:r="http://schemas.openxmlformats.org/officeDocument/2006/relationships" id="273" r:id="R491c4977d7d84a8e"/>
    <p:sldId xmlns:r="http://schemas.openxmlformats.org/officeDocument/2006/relationships" id="274" r:id="R42d93579839942a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f0f5446b2f44e83" /><Relationship Type="http://schemas.openxmlformats.org/officeDocument/2006/relationships/slideMaster" Target="/ppt/slideMasters/slideMaster1.xml" Id="R6c35a23b5d76417e" /><Relationship Type="http://schemas.openxmlformats.org/officeDocument/2006/relationships/notesMaster" Target="/ppt/notesMasters/notesMaster1.xml" Id="R47c290b9f76f4d56" /><Relationship Type="http://schemas.openxmlformats.org/officeDocument/2006/relationships/presProps" Target="/ppt/presProps.xml" Id="R1e01cf92dd9a43a9" /><Relationship Type="http://schemas.openxmlformats.org/officeDocument/2006/relationships/viewProps" Target="/ppt/viewProps.xml" Id="R4ab26bec04fd4121" /><Relationship Type="http://schemas.openxmlformats.org/officeDocument/2006/relationships/tableStyles" Target="/ppt/tableStyles.xml" Id="Rb0c7f037d0534098" /><Relationship Type="http://schemas.openxmlformats.org/officeDocument/2006/relationships/slide" Target="/ppt/slides/slide1.xml" Id="R94e1b9cfabba4cd8" /><Relationship Type="http://schemas.openxmlformats.org/officeDocument/2006/relationships/slide" Target="/ppt/slides/slide2.xml" Id="Rfa9e8b2350c34a59" /><Relationship Type="http://schemas.openxmlformats.org/officeDocument/2006/relationships/slide" Target="/ppt/slides/slide3.xml" Id="Ra6e850f96e3e4738" /><Relationship Type="http://schemas.openxmlformats.org/officeDocument/2006/relationships/slide" Target="/ppt/slides/slide4.xml" Id="R5463d00380ec471f" /><Relationship Type="http://schemas.openxmlformats.org/officeDocument/2006/relationships/slide" Target="/ppt/slides/slide5.xml" Id="R60dce56a41fd4f2a" /><Relationship Type="http://schemas.openxmlformats.org/officeDocument/2006/relationships/slide" Target="/ppt/slides/slide6.xml" Id="Ra5982d5062a144f1" /><Relationship Type="http://schemas.openxmlformats.org/officeDocument/2006/relationships/slide" Target="/ppt/slides/slide7.xml" Id="R71af583c412f4290" /><Relationship Type="http://schemas.openxmlformats.org/officeDocument/2006/relationships/slide" Target="/ppt/slides/slide8.xml" Id="R9d49db4566084c1e" /><Relationship Type="http://schemas.openxmlformats.org/officeDocument/2006/relationships/slide" Target="/ppt/slides/slide9.xml" Id="R3ab208cd52d3483a" /><Relationship Type="http://schemas.openxmlformats.org/officeDocument/2006/relationships/slide" Target="/ppt/slides/slide10.xml" Id="R9644947cbd294001" /><Relationship Type="http://schemas.openxmlformats.org/officeDocument/2006/relationships/slide" Target="/ppt/slides/slide11.xml" Id="R6825b1ea57c34b09" /><Relationship Type="http://schemas.openxmlformats.org/officeDocument/2006/relationships/slide" Target="/ppt/slides/slide12.xml" Id="R20263d9b8428402d" /><Relationship Type="http://schemas.openxmlformats.org/officeDocument/2006/relationships/slide" Target="/ppt/slides/slide13.xml" Id="R0d08b33cb7704883" /><Relationship Type="http://schemas.openxmlformats.org/officeDocument/2006/relationships/slide" Target="/ppt/slides/slide14.xml" Id="Rb6ba3e9d94fa45a2" /><Relationship Type="http://schemas.openxmlformats.org/officeDocument/2006/relationships/slide" Target="/ppt/slides/slide15.xml" Id="Rc20759a25d124947" /><Relationship Type="http://schemas.openxmlformats.org/officeDocument/2006/relationships/slide" Target="/ppt/slides/slide16.xml" Id="R666bb0a868c54748" /><Relationship Type="http://schemas.openxmlformats.org/officeDocument/2006/relationships/slide" Target="/ppt/slides/slide17.xml" Id="Rd9cea4a6cdd443f2" /><Relationship Type="http://schemas.openxmlformats.org/officeDocument/2006/relationships/slide" Target="/ppt/slides/slide18.xml" Id="R491c4977d7d84a8e" /><Relationship Type="http://schemas.openxmlformats.org/officeDocument/2006/relationships/slide" Target="/ppt/slides/slide19.xml" Id="R42d93579839942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daf25c8992f45a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テーマ">
  <a:themeElements>
    <a:clrScheme name="Beyond01">
      <a:dk1>
        <a:srgbClr val="212121"/>
      </a:dk1>
      <a:lt1>
        <a:srgbClr val="FFFFFF"/>
      </a:lt1>
      <a:dk2>
        <a:srgbClr val="000000"/>
      </a:dk2>
      <a:lt2>
        <a:srgbClr val="EEEEEE"/>
      </a:lt2>
      <a:accent1>
        <a:srgbClr val="002C54"/>
      </a:accent1>
      <a:accent2>
        <a:srgbClr val="207CA3"/>
      </a:accent2>
      <a:accent3>
        <a:srgbClr val="4CB5F5"/>
      </a:accent3>
      <a:accent4>
        <a:srgbClr val="EFB509"/>
      </a:accent4>
      <a:accent5>
        <a:srgbClr val="488A99"/>
      </a:accent5>
      <a:accent6>
        <a:srgbClr val="CE5957"/>
      </a:accent6>
      <a:hlink>
        <a:srgbClr val="7980FF"/>
      </a:hlink>
      <a:folHlink>
        <a:srgbClr val="7980FF"/>
      </a:folHlink>
    </a:clrScheme>
    <a:fontScheme name="ユーザー定義 2">
      <a:majorFont>
        <a:latin typeface="游ゴシック"/>
        <a:ea typeface="游ゴシック"/>
        <a:cs typeface="游ゴシック"/>
      </a:majorFont>
      <a:minorFont>
        <a:latin typeface="游ゴシック"/>
        <a:ea typeface="游ゴシック"/>
        <a:cs typeface=""/>
      </a:minorFont>
    </a:fontScheme>
    <a:fmtScheme name="Beyond0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cb2dd84ca84fb5" /><Relationship Type="http://schemas.openxmlformats.org/officeDocument/2006/relationships/notesMaster" Target="/ppt/notesMasters/notesMaster1.xml" Id="R71fa42eeba874d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8f91dcea8642b3" /><Relationship Type="http://schemas.openxmlformats.org/officeDocument/2006/relationships/notesMaster" Target="/ppt/notesMasters/notesMaster1.xml" Id="R96e271909f6946a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6059afd6954c5e" /><Relationship Type="http://schemas.openxmlformats.org/officeDocument/2006/relationships/notesMaster" Target="/ppt/notesMasters/notesMaster1.xml" Id="R165238a228fa41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f77ba21c21f4bda" /><Relationship Type="http://schemas.openxmlformats.org/officeDocument/2006/relationships/notesMaster" Target="/ppt/notesMasters/notesMaster1.xml" Id="R2556ab03dafb40e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b523bc8d6d74c4f" /><Relationship Type="http://schemas.openxmlformats.org/officeDocument/2006/relationships/notesMaster" Target="/ppt/notesMasters/notesMaster1.xml" Id="R37248add76424cc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5a1c9d931224c0f" /><Relationship Type="http://schemas.openxmlformats.org/officeDocument/2006/relationships/notesMaster" Target="/ppt/notesMasters/notesMaster1.xml" Id="R8d7fe8f01a8546f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441ab66b0e74618" /><Relationship Type="http://schemas.openxmlformats.org/officeDocument/2006/relationships/notesMaster" Target="/ppt/notesMasters/notesMaster1.xml" Id="R5ce762b6d7e24e0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5364469a6b74da9" /><Relationship Type="http://schemas.openxmlformats.org/officeDocument/2006/relationships/notesMaster" Target="/ppt/notesMasters/notesMaster1.xml" Id="R8e1a6b1ffd3f490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5c21bb917254a66" /><Relationship Type="http://schemas.openxmlformats.org/officeDocument/2006/relationships/notesMaster" Target="/ppt/notesMasters/notesMaster1.xml" Id="R8bd93cc7441742c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77b17d13abe4a46" /><Relationship Type="http://schemas.openxmlformats.org/officeDocument/2006/relationships/notesMaster" Target="/ppt/notesMasters/notesMaster1.xml" Id="R5a5c8de2fa5f481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18898ac4d6c4f00" /><Relationship Type="http://schemas.openxmlformats.org/officeDocument/2006/relationships/notesMaster" Target="/ppt/notesMasters/notesMaster1.xml" Id="R10655e566e124de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67f8c381eb34583" /><Relationship Type="http://schemas.openxmlformats.org/officeDocument/2006/relationships/notesMaster" Target="/ppt/notesMasters/notesMaster1.xml" Id="R36ac70647b33443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8718ecff77a4f7c" /><Relationship Type="http://schemas.openxmlformats.org/officeDocument/2006/relationships/notesMaster" Target="/ppt/notesMasters/notesMaster1.xml" Id="R445a85b25555451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702e08baed640d9" /><Relationship Type="http://schemas.openxmlformats.org/officeDocument/2006/relationships/notesMaster" Target="/ppt/notesMasters/notesMaster1.xml" Id="Rb0b0086344e3464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f9712475f8b4959" /><Relationship Type="http://schemas.openxmlformats.org/officeDocument/2006/relationships/notesMaster" Target="/ppt/notesMasters/notesMaster1.xml" Id="R8ce11b239b804aa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e58f3df560d4544" /><Relationship Type="http://schemas.openxmlformats.org/officeDocument/2006/relationships/notesMaster" Target="/ppt/notesMasters/notesMaster1.xml" Id="R23bab29cea034f3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4bd0c78567f4775" /><Relationship Type="http://schemas.openxmlformats.org/officeDocument/2006/relationships/notesMaster" Target="/ppt/notesMasters/notesMaster1.xml" Id="R097dd683a9f04f5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4608d601c6d4820" /><Relationship Type="http://schemas.openxmlformats.org/officeDocument/2006/relationships/notesMaster" Target="/ppt/notesMasters/notesMaster1.xml" Id="R3b5f584b1d93465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5bffac65b9d4c34" /><Relationship Type="http://schemas.openxmlformats.org/officeDocument/2006/relationships/notesMaster" Target="/ppt/notesMasters/notesMaster1.xml" Id="R085a71272ec840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https://chatgpt.com/share/e/6a9250c4-a114-800d-a4e5-cddfec75de1d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共有会話と本人からの修正指示を基礎に、一次情報と市川解釈を区別して構成。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https://chatgpt.com/share/e/6a9250c4-a114-800d-a4e5-cddfec75de1d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共有会話と本人からの修正指示を基礎に、一次情報と市川解釈を区別して構成。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generated: OpenAI ImageGen, supporting illustration created for this deck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画像は本資料用にOpenAI ImageGenで生成。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generated: OpenAI ImageGen, supporting illustration created for this deck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画像は本資料用にOpenAI ImageGenで生成。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https://chatgpt.com/share/e/6a9250c4-a114-800d-a4e5-cddfec75de1d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共有会話と本人からの修正指示を基礎に、一次情報と市川解釈を区別して構成。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https://press.uchicago.edu/ucp/books/book/chicago/T/bo6035368.html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共有会話と本人からの修正指示を基礎に、一次情報と市川解釈を区別して構成。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https://chatgpt.com/share/e/6a9250c4-a114-800d-a4e5-cddfec75de1d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本人からの修正指示に基づく問いかけページ。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https://arxiv.org/abs/2303.08774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共有会話と本人からの修正指示を基礎に、一次情報と市川解釈を区別して構成。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https://undraw.co/illustration/online-learning_tgmv</a:t>
            </a:r>
          </a:p>
          <a:p xmlns:a="http://schemas.openxmlformats.org/drawingml/2006/main">
            <a:r>
              <a:t>- https://undraw.co/illustration/file-analysis_nbtc</a:t>
            </a:r>
          </a:p>
          <a:p xmlns:a="http://schemas.openxmlformats.org/drawingml/2006/main">
            <a:r>
              <a:t>- https://undraw.co/license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人物イラストはunDrawの既存素材。画像生成は行っていない。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https://chatgpt.com/share/e/6a9250c4-a114-800d-a4e5-cddfec75de1d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画像は共有ChatGPT会話で生成された『暗黙知奉納式、AI様へ捧ぐセンス』。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C:/Users/Tomohiro Ichikawa/Downloads/AI様に納品しない風刺絵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本人提供の風刺絵と本人指定の原因を掲載。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C:/Users/Tomohiro Ichikawa/Downloads/AI様とPDCA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画像は本人提供の『AI様とPDCA』。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https://chatgpt.com/share/e/6a9250c4-a114-800d-a4e5-cddfec75de1d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共有会話と本人からの修正指示を基礎に、一次情報と市川解釈を区別して構成。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https://chatgpt.com/share/e/6a9250c4-a114-800d-a4e5-cddfec75de1d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共有会話と本人からの修正指示を基礎に、一次情報と市川解釈を区別して構成。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本人からの修正指示（2026-08-30）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ChatGPTとの壁打ちと音声会話は本人提案として掲載。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https://chatgpt.com/share/e/6a9250c4-a114-800d-a4e5-cddfec75de1d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共有会話と本人からの修正指示を基礎に、一次情報と市川解釈を区別して構成。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https://press.uchicago.edu/ucp/books/book/chicago/T/bo6035368.html</a:t>
            </a:r>
          </a:p>
          <a:p xmlns:a="http://schemas.openxmlformats.org/drawingml/2006/main">
            <a:r>
              <a:t>- https://pubmed.ncbi.nlm.nih.gov/19739881/</a:t>
            </a:r>
          </a:p>
          <a:p xmlns:a="http://schemas.openxmlformats.org/drawingml/2006/main">
            <a:r>
              <a:t>- https://arxiv.org/abs/2303.08774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共有会話と本人からの修正指示を基礎に、一次情報と市川解釈を区別して構成。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https://chatgpt.com/share/e/6a9250c4-a114-800d-a4e5-cddfec75de1d</a:t>
            </a:r>
          </a:p>
          <a:p xmlns:a="http://schemas.openxmlformats.org/drawingml/2006/main">
            <a:r>
              <a:t>- https://undraw.co/illustration/online-learning_tgmv</a:t>
            </a:r>
          </a:p>
          <a:p xmlns:a="http://schemas.openxmlformats.org/drawingml/2006/main">
            <a:r>
              <a:t>- https://undraw.co/illustration/file-analysis_nbtc</a:t>
            </a:r>
          </a:p>
          <a:p xmlns:a="http://schemas.openxmlformats.org/drawingml/2006/main">
            <a:r>
              <a:t>- https://undraw.co/license</a:t>
            </a:r>
          </a:p>
          <a:p xmlns:a="http://schemas.openxmlformats.org/drawingml/2006/main">
            <a:r>
              <a:t>- user-provided images: AI様に納品しない風刺絵 / AI様とPDCA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画像生成は追加していない。unDrawの既存素材2点と本人提供画像を追加。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https://chatgpt.com/share/e/6a9250c4-a114-800d-a4e5-cddfec75de1d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共有会話と本人からの修正指示を基礎に、一次情報と市川解釈を区別して構成。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6329b683204ad1" /><Relationship Type="http://schemas.openxmlformats.org/officeDocument/2006/relationships/image" Target="/ppt/media/image.jpeg" Id="R146879da531c485f" /><Relationship Type="http://schemas.openxmlformats.org/officeDocument/2006/relationships/image" Target="/ppt/media/image2.jpeg" Id="R5de134ebbbc14a46" /><Relationship Type="http://schemas.openxmlformats.org/officeDocument/2006/relationships/image" Target="/ppt/media/image.png" Id="R35db61b0727a47e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f983c11a97423b" /><Relationship Type="http://schemas.openxmlformats.org/officeDocument/2006/relationships/image" Target="/ppt/media/image2.png" Id="Rc49b929a76ed4ae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d59ffb0db341c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72fa9faa1846f3" /><Relationship Type="http://schemas.openxmlformats.org/officeDocument/2006/relationships/image" Target="/ppt/media/image.jpeg" Id="Ra735483591254271" /><Relationship Type="http://schemas.openxmlformats.org/officeDocument/2006/relationships/image" Target="/ppt/media/image2.jpeg" Id="R6e4ff4705788464b" /><Relationship Type="http://schemas.openxmlformats.org/officeDocument/2006/relationships/image" Target="/ppt/media/image3.png" Id="Rab6999107185485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32d13f3ace4b9a" /><Relationship Type="http://schemas.openxmlformats.org/officeDocument/2006/relationships/image" Target="/ppt/media/image.jpeg" Id="R3408c9559df04d37" /><Relationship Type="http://schemas.openxmlformats.org/officeDocument/2006/relationships/image" Target="/ppt/media/image2.jpeg" Id="Rdfa206deaee44d2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0cefd5238643d6" /><Relationship Type="http://schemas.openxmlformats.org/officeDocument/2006/relationships/image" Target="/ppt/media/image4.png" Id="R57e11fe33f59435e" /><Relationship Type="http://schemas.openxmlformats.org/officeDocument/2006/relationships/image" Target="/ppt/media/image3.jpeg" Id="Rea485720cc7f462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6e14047667432a" /><Relationship Type="http://schemas.openxmlformats.org/officeDocument/2006/relationships/image" Target="/ppt/media/image4.jpeg" Id="Rdd42d2463b834504" /><Relationship Type="http://schemas.openxmlformats.org/officeDocument/2006/relationships/image" Target="/ppt/media/image5.jpeg" Id="Reda90ed420bb4ae7" /><Relationship Type="http://schemas.openxmlformats.org/officeDocument/2006/relationships/image" Target="/ppt/media/image3.png" Id="R2914dfde8d2a432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d6135b7e5944d6" /><Relationship Type="http://schemas.openxmlformats.org/officeDocument/2006/relationships/image" Target="/ppt/media/image6.jpeg" Id="R98a88472889b4f3b" /></Relationships>
</file>

<file path=ppt/slideLayouts/slideLayout1.xml><?xml version="1.0" encoding="utf-8"?>
<p:sldLayout xmlns:p="http://schemas.openxmlformats.org/presentationml/2006/main" type="title" preserve="1">
  <p:cSld name="表紙">
    <p:bg>
      <p:bgPr>
        <a:blipFill xmlns:a="http://schemas.openxmlformats.org/drawingml/2006/main" rotWithShape="1">
          <a:blip xmlns:r="http://schemas.openxmlformats.org/officeDocument/2006/relationships" r:embed="R146879da531c485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134ebbbc14a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DA80AF-EBB7-4570-AF2A-6C6DB1CB3C70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1524000" y="3428999"/>
            <a:ext cx="5091953" cy="114300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buNone/>
              <a:defRPr sz="4500" b="1" i="0" spc="600">
                <a:solidFill>
                  <a:schemeClr val="bg1"/>
                </a:solidFill>
                <a:latin typeface="Futura PT Bold"/>
                <a:ea typeface="Futura PT Bold"/>
                <a:cs typeface="Futura PT Bold"/>
              </a:defRPr>
            </a:lvl1pPr>
          </a:lstStyle>
          <a:p xmlns:a="http://schemas.openxmlformats.org/drawingml/2006/main">
            <a:r>
              <a:t>PRESENTATION TITLE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D4C83F1-F971-42F1-8C50-EB92BD3265CF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1524000" y="4964083"/>
            <a:ext cx="9144000" cy="4007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lvl1pPr marL="0" indent="0" algn="l">
              <a:buNone/>
              <a:defRPr sz="2400" b="0" i="0" spc="600" baseline="0">
                <a:solidFill>
                  <a:srgbClr val="BFDCCF"/>
                </a:solidFill>
                <a:latin typeface="BIZ UDPゴシック"/>
                <a:ea typeface="BIZ UDPゴシック"/>
                <a:cs typeface="BIZ UDPゴシック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SUBTITLE (OPTIONAL)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AEFB50-2F6B-4E9E-9107-9AC16EC711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 rot="16200000">
            <a:off x="9548331" y="3651023"/>
            <a:ext cx="3412830" cy="20002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lvl1pPr algn="l">
              <a:buNone/>
              <a:defRPr sz="900" spc="300">
                <a:solidFill>
                  <a:schemeClr val="bg1"/>
                </a:solidFill>
                <a:latin typeface="BIZ UDPゴシック"/>
                <a:ea typeface="BIZ UDPゴシック"/>
                <a:cs typeface="BIZ UDPゴシック"/>
              </a:defRPr>
            </a:lvl1pPr>
          </a:lstStyle>
          <a:p xmlns:a="http://schemas.openxmlformats.org/drawingml/2006/main">
            <a:pPr>
              <a:spcBef>
                <a:spcPts val="600"/>
              </a:spcBef>
              <a:buNone/>
            </a:pPr>
            <a:r>
              <a:t>@ Beyond Next Ventures, Inc.</a:t>
            </a:r>
            <a:endParaRPr/>
          </a:p>
        </p:txBody>
      </p:sp>
      <p:pic>
        <p:nvPicPr>
          <p:cNvPr id="1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db61b0727a47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76784" y="-29335"/>
            <a:ext cx="3267814" cy="2310199"/>
          </a:xfrm>
          <a:prstGeom xmlns:a="http://schemas.openxmlformats.org/drawingml/2006/main" prst="rect">
            <a:avLst/>
          </a:prstGeom>
        </p:spPr>
      </p:pic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AB4C9BCE-080E-4B35-8225-803B79F2C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1278" y="5614038"/>
            <a:ext cx="200026" cy="20002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0C0F689-20D2-4166-BBFE-61F4194A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1998" y="662043"/>
            <a:ext cx="2256467" cy="3158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BFDCCF"/>
              </a:solidFill>
            </a:endParaRPr>
          </a:p>
        </p:txBody>
      </p:sp>
      <p:sp>
        <p:nvSpPr>
          <p:cNvPr id="10" name="Subtitle 2">
            <a:extLst xmlns:a="http://schemas.openxmlformats.org/drawingml/2006/main">
              <a:ext uri="{FF2B5EF4-FFF2-40B4-BE49-F238E27FC236}">
                <a16:creationId xmlns:a16="http://schemas.microsoft.com/office/drawing/2014/main" id="{371F7F74-045F-4587-BA4A-9E2416698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529" y="719932"/>
            <a:ext cx="2470781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000" spc="600">
                <a:solidFill>
                  <a:schemeClr val="bg1"/>
                </a:solidFill>
                <a:latin typeface="Futura Medium"/>
                <a:ea typeface="Futura Medium"/>
                <a:cs typeface="Futura Medium"/>
              </a:rPr>
              <a:t>•CONFIDENTIAL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406E5B8-BB1F-4314-8664-0BE162D4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5612" y="-658906"/>
            <a:ext cx="184731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コンテンツ1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タイトル 4">
            <a:extLst xmlns:a="http://schemas.openxmlformats.org/drawingml/2006/main">
              <a:ext uri="{FF2B5EF4-FFF2-40B4-BE49-F238E27FC236}">
                <a16:creationId xmlns:a16="http://schemas.microsoft.com/office/drawing/2014/main" id="{B2D537BC-CAD2-9B9F-85C3-DEECD73936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マスター タイトルの書式設定</a:t>
            </a:r>
          </a:p>
        </p:txBody>
      </p:sp>
      <p:sp>
        <p:nvSpPr>
          <p:cNvPr id="1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5DA3AA1-27D8-9ED4-7D86-F3EA9DD57B4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96379" y="6377564"/>
            <a:ext cx="324000" cy="33823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bIns="72000"/>
          <a:lstStyle xmlns:a="http://schemas.openxmlformats.org/drawingml/2006/main">
            <a:lvl1pPr>
              <a:buNone/>
              <a:defRPr sz="1000" b="0" i="0">
                <a:solidFill>
                  <a:schemeClr val="bg1"/>
                </a:solidFill>
                <a:latin typeface="Futura PT Cond Book Italic"/>
                <a:ea typeface="Futura PT Cond Book Italic"/>
                <a:cs typeface="Futura PT Cond Book Italic"/>
              </a:defRPr>
            </a:lvl1pPr>
          </a:lstStyle>
          <a:p xmlns:a="http://schemas.openxmlformats.org/drawingml/2006/main">
            <a:fld id="{EA818FD4-2EA2-0248-8203-5C0A81512996}" type="slidenum">
              <a:t>‹#›</a:t>
            </a:fld>
            <a:endParaRPr/>
          </a:p>
        </p:txBody>
      </p:sp>
      <p:sp>
        <p:nvSpPr>
          <p:cNvPr id="14" name="直線コネクタ 13">
            <a:extLst xmlns:a="http://schemas.openxmlformats.org/drawingml/2006/main">
              <a:ext uri="{FF2B5EF4-FFF2-40B4-BE49-F238E27FC236}">
                <a16:creationId xmlns:a16="http://schemas.microsoft.com/office/drawing/2014/main" id="{C8C0193E-6C5B-4D84-B4C8-9820C93FC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682" y="6596459"/>
            <a:ext cx="9288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" name="Subtitle 2">
            <a:extLst xmlns:a="http://schemas.openxmlformats.org/drawingml/2006/main">
              <a:ext uri="{FF2B5EF4-FFF2-40B4-BE49-F238E27FC236}">
                <a16:creationId xmlns:a16="http://schemas.microsoft.com/office/drawing/2014/main" id="{B2B5362E-4E1D-0C99-BD06-9549F7407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3200" y="6546680"/>
            <a:ext cx="1592863" cy="11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>
            <a:sp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indent="0" algn="r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</a:pPr>
            <a:r>
              <a:rPr sz="800" spc="300">
                <a:solidFill>
                  <a:schemeClr val="bg1"/>
                </a:solidFill>
                <a:latin typeface="Futura Medium"/>
                <a:ea typeface="Futura Medium"/>
                <a:cs typeface="Futura Medium"/>
              </a:rPr>
              <a:t>•CONFIDENTIAL</a:t>
            </a:r>
          </a:p>
        </p:txBody>
      </p:sp>
      <p:sp>
        <p:nvSpPr>
          <p:cNvPr id="16" name="楕円 23">
            <a:extLst xmlns:a="http://schemas.openxmlformats.org/drawingml/2006/main">
              <a:ext uri="{FF2B5EF4-FFF2-40B4-BE49-F238E27FC236}">
                <a16:creationId xmlns:a16="http://schemas.microsoft.com/office/drawing/2014/main" id="{9AFB927A-E65F-EF26-EB8A-CD9A5139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682" y="6420910"/>
            <a:ext cx="324001" cy="32773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200"/>
          </a:p>
        </p:txBody>
      </p:sp>
      <p:sp>
        <p:nvSpPr>
          <p:cNvPr id="2" name="正方形/長方形 1">
            <a:extLst xmlns:a="http://schemas.openxmlformats.org/drawingml/2006/main">
              <a:ext uri="{FF2B5EF4-FFF2-40B4-BE49-F238E27FC236}">
                <a16:creationId xmlns:a16="http://schemas.microsoft.com/office/drawing/2014/main" id="{5B447B7B-4505-978A-515A-2C91D6661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3084"/>
            <a:ext cx="12192000" cy="557654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rot="0" spcFirstLastPara="0" vert="horz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 sz="1400"/>
          </a:p>
        </p:txBody>
      </p:sp>
      <p:pic>
        <p:nvPicPr>
          <p:cNvPr id="24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b929a76ed4a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755542" y="-29335"/>
            <a:ext cx="1192618" cy="843128"/>
          </a:xfrm>
          <a:prstGeom xmlns:a="http://schemas.openxmlformats.org/drawingml/2006/main" prst="rect">
            <a:avLst/>
          </a:prstGeom>
        </p:spPr>
      </p:pic>
      <p:sp>
        <p:nvSpPr>
          <p:cNvPr id="6" name="テキスト プレースホルダー 5">
            <a:extLst xmlns:a="http://schemas.openxmlformats.org/drawingml/2006/main">
              <a:ext uri="{FF2B5EF4-FFF2-40B4-BE49-F238E27FC236}">
                <a16:creationId xmlns:a16="http://schemas.microsoft.com/office/drawing/2014/main" id="{A869A035-1C2C-E120-D9C4-5745A2673DB8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558274" y="897464"/>
            <a:ext cx="11160124" cy="61561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500" spc="300"/>
            </a:lvl1pPr>
          </a:lstStyle>
          <a:p xmlns:a="http://schemas.openxmlformats.org/drawingml/2006/main">
            <a:pPr lvl="0">
              <a:buNone/>
            </a:pPr>
            <a:r>
              <a:t>マスター テキストの書式設定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コンテンツ2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タイトル 4">
            <a:extLst xmlns:a="http://schemas.openxmlformats.org/drawingml/2006/main">
              <a:ext uri="{FF2B5EF4-FFF2-40B4-BE49-F238E27FC236}">
                <a16:creationId xmlns:a16="http://schemas.microsoft.com/office/drawing/2014/main" id="{B2D537BC-CAD2-9B9F-85C3-DEECD73936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マスター タイトルの書式設定</a:t>
            </a:r>
          </a:p>
        </p:txBody>
      </p:sp>
      <p:sp>
        <p:nvSpPr>
          <p:cNvPr id="1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5DA3AA1-27D8-9ED4-7D86-F3EA9DD57B4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521682" y="6423109"/>
            <a:ext cx="324000" cy="33823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bIns="72000"/>
          <a:lstStyle xmlns:a="http://schemas.openxmlformats.org/drawingml/2006/main">
            <a:lvl1pPr>
              <a:buNone/>
              <a:defRPr sz="1000" b="0" i="0">
                <a:solidFill>
                  <a:schemeClr val="bg1"/>
                </a:solidFill>
                <a:latin typeface="Futura PT Cond Book Italic"/>
                <a:ea typeface="Futura PT Cond Book Italic"/>
                <a:cs typeface="Futura PT Cond Book Italic"/>
              </a:defRPr>
            </a:lvl1pPr>
          </a:lstStyle>
          <a:p xmlns:a="http://schemas.openxmlformats.org/drawingml/2006/main">
            <a:fld id="{EA818FD4-2EA2-0248-8203-5C0A81512996}" type="slidenum">
              <a:t>‹#›</a:t>
            </a:fld>
            <a:endParaRPr/>
          </a:p>
        </p:txBody>
      </p:sp>
      <p:sp>
        <p:nvSpPr>
          <p:cNvPr id="14" name="直線コネクタ 13">
            <a:extLst xmlns:a="http://schemas.openxmlformats.org/drawingml/2006/main">
              <a:ext uri="{FF2B5EF4-FFF2-40B4-BE49-F238E27FC236}">
                <a16:creationId xmlns:a16="http://schemas.microsoft.com/office/drawing/2014/main" id="{142810E2-423F-4B33-8CAE-CA4401C88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682" y="6596459"/>
            <a:ext cx="9288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" name="Subtitle 2">
            <a:extLst xmlns:a="http://schemas.openxmlformats.org/drawingml/2006/main">
              <a:ext uri="{FF2B5EF4-FFF2-40B4-BE49-F238E27FC236}">
                <a16:creationId xmlns:a16="http://schemas.microsoft.com/office/drawing/2014/main" id="{B2B5362E-4E1D-0C99-BD06-9549F7407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3200" y="6546680"/>
            <a:ext cx="1592863" cy="11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>
            <a:sp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indent="0" algn="r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</a:pPr>
            <a:r>
              <a:rPr sz="800" spc="300">
                <a:solidFill>
                  <a:schemeClr val="bg1"/>
                </a:solidFill>
                <a:latin typeface="Futura Medium"/>
                <a:ea typeface="Futura Medium"/>
                <a:cs typeface="Futura Medium"/>
              </a:rPr>
              <a:t>•CONFIDENTIAL</a:t>
            </a:r>
          </a:p>
        </p:txBody>
      </p:sp>
      <p:sp>
        <p:nvSpPr>
          <p:cNvPr id="16" name="楕円 23">
            <a:extLst xmlns:a="http://schemas.openxmlformats.org/drawingml/2006/main">
              <a:ext uri="{FF2B5EF4-FFF2-40B4-BE49-F238E27FC236}">
                <a16:creationId xmlns:a16="http://schemas.microsoft.com/office/drawing/2014/main" id="{9AFB927A-E65F-EF26-EB8A-CD9A5139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682" y="6420910"/>
            <a:ext cx="324001" cy="32773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200"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背景1">
    <p:bg>
      <p:bgPr>
        <a:blipFill xmlns:a="http://schemas.openxmlformats.org/drawingml/2006/main" rotWithShape="1">
          <a:blip xmlns:r="http://schemas.openxmlformats.org/officeDocument/2006/relationships" r:embed="Ra73548359125427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4ff470578846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正方形/長方形 6">
            <a:extLst xmlns:a="http://schemas.openxmlformats.org/drawingml/2006/main">
              <a:ext uri="{FF2B5EF4-FFF2-40B4-BE49-F238E27FC236}">
                <a16:creationId xmlns:a16="http://schemas.microsoft.com/office/drawing/2014/main" id="{B8CB08D1-F3B0-4C35-92BE-EF6378066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-1"/>
            <a:ext cx="12191999" cy="685799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0">
                <a:srgbClr val="000000">
                  <a:alpha val="25000"/>
                </a:srgbClr>
              </a:gs>
              <a:gs pos="100000">
                <a:srgbClr val="21285C">
                  <a:alpha val="75000"/>
                </a:srgbClr>
              </a:gs>
            </a:gsLst>
            <a:lin ang="18900000" scaled="1"/>
            <a:tileRect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Oval 11">
            <a:extLst xmlns:a="http://schemas.openxmlformats.org/drawingml/2006/main">
              <a:ext uri="{FF2B5EF4-FFF2-40B4-BE49-F238E27FC236}">
                <a16:creationId xmlns:a16="http://schemas.microsoft.com/office/drawing/2014/main" id="{36F17D76-37AD-4BBD-80B2-13D278DD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1278" y="5614038"/>
            <a:ext cx="200026" cy="20002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13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699910718548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22608" y="244308"/>
            <a:ext cx="1981645" cy="1400935"/>
          </a:xfrm>
          <a:prstGeom xmlns:a="http://schemas.openxmlformats.org/drawingml/2006/main" prst="rect">
            <a:avLst/>
          </a:prstGeom>
        </p:spPr>
      </p:pic>
      <p:sp>
        <p:nvSpPr>
          <p:cNvPr id="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5E32495-1F3C-EA7A-19F7-7EED12ECD8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 rot="16200000">
            <a:off x="9548331" y="3651023"/>
            <a:ext cx="3412830" cy="20002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lvl1pPr algn="l">
              <a:buNone/>
              <a:defRPr sz="900" spc="3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>
              <a:spcBef>
                <a:spcPts val="600"/>
              </a:spcBef>
              <a:buNone/>
            </a:pPr>
            <a:r>
              <a:rPr>
                <a:latin typeface="Futura Medium"/>
                <a:ea typeface="Futura Medium"/>
                <a:cs typeface="Futura Medium"/>
              </a:rPr>
              <a:t>© Beyond Next Ventures, Inc.</a:t>
            </a:r>
          </a:p>
          <a:p xmlns:a="http://schemas.openxmlformats.org/drawingml/2006/main">
            <a:pPr>
              <a:spcBef>
                <a:spcPts val="600"/>
              </a:spcBef>
              <a:buNone/>
            </a:pPr>
            <a:endParaRPr>
              <a:latin typeface="Futura Medium"/>
              <a:ea typeface="Futura Medium"/>
              <a:cs typeface="Futura Medium"/>
            </a:endParaRPr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背景2">
    <p:bg>
      <p:bgPr>
        <a:blipFill xmlns:a="http://schemas.openxmlformats.org/drawingml/2006/main" rotWithShape="1">
          <a:blip xmlns:r="http://schemas.openxmlformats.org/officeDocument/2006/relationships" r:embed="R3408c9559df04d3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206deaee44d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8" name="正方形/長方形 7">
            <a:extLst xmlns:a="http://schemas.openxmlformats.org/drawingml/2006/main">
              <a:ext uri="{FF2B5EF4-FFF2-40B4-BE49-F238E27FC236}">
                <a16:creationId xmlns:a16="http://schemas.microsoft.com/office/drawing/2014/main" id="{F01747FD-06C1-DE58-AEEB-8447DB69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-1"/>
            <a:ext cx="12191999" cy="685799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0">
                <a:srgbClr val="000000">
                  <a:alpha val="25000"/>
                </a:srgbClr>
              </a:gs>
              <a:gs pos="100000">
                <a:srgbClr val="21285C">
                  <a:alpha val="75000"/>
                </a:srgbClr>
              </a:gs>
            </a:gsLst>
            <a:lin ang="18900000" scaled="1"/>
            <a:tileRect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背景3">
    <p:bg>
      <p:bgPr>
        <a:blipFill xmlns:a="http://schemas.openxmlformats.org/drawingml/2006/main" rotWithShape="1">
          <a:blip xmlns:r="http://schemas.openxmlformats.org/officeDocument/2006/relationships" r:embed="R57e11fe33f59435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485720cc7f46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4" name="正方形/長方形 3">
            <a:extLst xmlns:a="http://schemas.openxmlformats.org/drawingml/2006/main">
              <a:ext uri="{FF2B5EF4-FFF2-40B4-BE49-F238E27FC236}">
                <a16:creationId xmlns:a16="http://schemas.microsoft.com/office/drawing/2014/main" id="{F093824B-9F72-AF15-4C65-314E36127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3231"/>
            <a:ext cx="10109200" cy="5747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285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7480346-F18F-548A-FBA4-1D0167282CF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521682" y="6423109"/>
            <a:ext cx="324000" cy="33823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bIns="72000"/>
          <a:lstStyle xmlns:a="http://schemas.openxmlformats.org/drawingml/2006/main">
            <a:lvl1pPr>
              <a:buNone/>
              <a:defRPr sz="1000" b="0" i="0">
                <a:solidFill>
                  <a:schemeClr val="bg1"/>
                </a:solidFill>
                <a:latin typeface="Futura PT Cond Book Italic"/>
                <a:ea typeface="Futura PT Cond Book Italic"/>
                <a:cs typeface="Futura PT Cond Book Italic"/>
              </a:defRPr>
            </a:lvl1pPr>
          </a:lstStyle>
          <a:p xmlns:a="http://schemas.openxmlformats.org/drawingml/2006/main">
            <a:fld id="{EA818FD4-2EA2-0248-8203-5C0A81512996}" type="slidenum">
              <a:t>‹#›</a:t>
            </a:fld>
            <a:endParaRPr/>
          </a:p>
        </p:txBody>
      </p:sp>
      <p:sp>
        <p:nvSpPr>
          <p:cNvPr id="7" name="直線コネクタ 6">
            <a:extLst xmlns:a="http://schemas.openxmlformats.org/drawingml/2006/main">
              <a:ext uri="{FF2B5EF4-FFF2-40B4-BE49-F238E27FC236}">
                <a16:creationId xmlns:a16="http://schemas.microsoft.com/office/drawing/2014/main" id="{A46D3082-39BB-4BCB-9CFB-24043BEC2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682" y="6596459"/>
            <a:ext cx="7632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Subtitle 2">
            <a:extLst xmlns:a="http://schemas.openxmlformats.org/drawingml/2006/main">
              <a:ext uri="{FF2B5EF4-FFF2-40B4-BE49-F238E27FC236}">
                <a16:creationId xmlns:a16="http://schemas.microsoft.com/office/drawing/2014/main" id="{96F42CD7-176B-0599-5D1D-5E0061B7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8362" y="6546680"/>
            <a:ext cx="1592863" cy="11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ctr">
            <a:sp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marR="0" indent="0" algn="r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</a:pPr>
            <a:r>
              <a:rPr sz="800" spc="300">
                <a:solidFill>
                  <a:schemeClr val="bg1"/>
                </a:solidFill>
                <a:latin typeface="Futura Medium"/>
                <a:ea typeface="Futura Medium"/>
                <a:cs typeface="Futura Medium"/>
              </a:rPr>
              <a:t>•CONFIDENTIAL</a:t>
            </a:r>
          </a:p>
        </p:txBody>
      </p:sp>
      <p:sp>
        <p:nvSpPr>
          <p:cNvPr id="10" name="楕円 23">
            <a:extLst xmlns:a="http://schemas.openxmlformats.org/drawingml/2006/main">
              <a:ext uri="{FF2B5EF4-FFF2-40B4-BE49-F238E27FC236}">
                <a16:creationId xmlns:a16="http://schemas.microsoft.com/office/drawing/2014/main" id="{FBC98312-02F8-1DB4-087C-F40311069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682" y="6420910"/>
            <a:ext cx="324001" cy="32773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200"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見出し（水色）">
    <p:bg>
      <p:bgPr>
        <a:blipFill xmlns:a="http://schemas.openxmlformats.org/drawingml/2006/main" rotWithShape="1">
          <a:blip xmlns:r="http://schemas.openxmlformats.org/officeDocument/2006/relationships" r:embed="Rdd42d2463b83450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Picture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a90ed420bb4a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2870" y="0"/>
            <a:ext cx="3112008" cy="6858000"/>
          </a:xfrm>
          <a:prstGeom xmlns:a="http://schemas.openxmlformats.org/drawingml/2006/main" prst="rect">
            <a:avLst/>
          </a:prstGeom>
        </p:spPr>
      </p:pic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5ED3DD0C-8A40-4C54-84A3-95347EBE776D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3487270" y="2839105"/>
            <a:ext cx="7634008" cy="191667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buNone/>
              <a:defRPr sz="4500" b="1" i="0" spc="600">
                <a:solidFill>
                  <a:schemeClr val="bg1"/>
                </a:solidFill>
                <a:latin typeface="Futura PT Bold"/>
                <a:ea typeface="Futura PT Bold"/>
                <a:cs typeface="Futura PT Bold"/>
              </a:defRPr>
            </a:lvl1pPr>
          </a:lstStyle>
          <a:p xmlns:a="http://schemas.openxmlformats.org/drawingml/2006/main">
            <a:r>
              <a:t>INTRODUCTION</a:t>
            </a:r>
          </a:p>
        </p:txBody>
      </p:sp>
      <p:sp>
        <p:nvSpPr>
          <p:cNvPr id="9" name="Subtitle 2">
            <a:extLst xmlns:a="http://schemas.openxmlformats.org/drawingml/2006/main">
              <a:ext uri="{FF2B5EF4-FFF2-40B4-BE49-F238E27FC236}">
                <a16:creationId xmlns:a16="http://schemas.microsoft.com/office/drawing/2014/main" id="{D9B5E752-0E9C-4387-8F51-D4A4EB0970E0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3487270" y="3554553"/>
            <a:ext cx="7634008" cy="6902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lvl1pPr marL="0" indent="0" algn="l">
              <a:buNone/>
              <a:defRPr sz="2400" b="0" i="0" spc="600" baseline="0">
                <a:solidFill>
                  <a:schemeClr val="bg1"/>
                </a:solidFill>
                <a:latin typeface="Futura PT Medium"/>
                <a:ea typeface="Futura PT Medium"/>
                <a:cs typeface="Futura PT Medium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SUBTITLE (OPTIONAL)</a:t>
            </a:r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DD5947F8-2A5C-4F2A-A743-00DC3235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1278" y="5614038"/>
            <a:ext cx="200026" cy="20002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D2DC57E-E500-4AE9-8B15-2A6B39B37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1998" y="662043"/>
            <a:ext cx="2256467" cy="3158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rgbClr val="BFDCCF"/>
              </a:solidFill>
            </a:endParaRPr>
          </a:p>
        </p:txBody>
      </p:sp>
      <p:sp>
        <p:nvSpPr>
          <p:cNvPr id="14" name="Subtitle 2">
            <a:extLst xmlns:a="http://schemas.openxmlformats.org/drawingml/2006/main">
              <a:ext uri="{FF2B5EF4-FFF2-40B4-BE49-F238E27FC236}">
                <a16:creationId xmlns:a16="http://schemas.microsoft.com/office/drawing/2014/main" id="{E375CCBB-6CF0-4063-8DC2-C965986AD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529" y="719932"/>
            <a:ext cx="2470781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000" spc="600">
                <a:solidFill>
                  <a:schemeClr val="bg1"/>
                </a:solidFill>
                <a:latin typeface="Futura Medium"/>
                <a:ea typeface="Futura Medium"/>
                <a:cs typeface="Futura Medium"/>
              </a:rPr>
              <a:t>•CONFIDENTIAL</a:t>
            </a:r>
          </a:p>
        </p:txBody>
      </p:sp>
      <p:sp>
        <p:nvSpPr>
          <p:cNvPr id="15" name="Subtitle 2">
            <a:extLst xmlns:a="http://schemas.openxmlformats.org/drawingml/2006/main">
              <a:ext uri="{FF2B5EF4-FFF2-40B4-BE49-F238E27FC236}">
                <a16:creationId xmlns:a16="http://schemas.microsoft.com/office/drawing/2014/main" id="{2601CCB9-7487-4AD8-8CFE-209CEBE84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7270" y="4233338"/>
            <a:ext cx="9144000" cy="6902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b="0" i="0" kern="1200" spc="600" baseline="0">
                <a:solidFill>
                  <a:srgbClr val="BFDCCF"/>
                </a:solidFill>
                <a:latin typeface="Futura PT Medium"/>
                <a:ea typeface="Futura PT Medium"/>
                <a:cs typeface="Futura PT Medium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sz="1000" spc="-300">
                <a:solidFill>
                  <a:schemeClr val="bg1"/>
                </a:solidFill>
              </a:rPr>
              <a:t>/////////////////////////////</a:t>
            </a:r>
          </a:p>
        </p:txBody>
      </p:sp>
      <p:pic>
        <p:nvPicPr>
          <p:cNvPr id="25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14dfde8d2a43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22608" y="244308"/>
            <a:ext cx="1981645" cy="1400935"/>
          </a:xfrm>
          <a:prstGeom xmlns:a="http://schemas.openxmlformats.org/drawingml/2006/main" prst="rect">
            <a:avLst/>
          </a:prstGeom>
        </p:spPr>
      </p:pic>
      <p:sp>
        <p:nvSpPr>
          <p:cNvPr id="3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30604A-9476-EA2B-7021-FFF1BEBDEE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 rot="16200000">
            <a:off x="9548331" y="3651023"/>
            <a:ext cx="3412830" cy="20002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>
            <a:lvl1pPr algn="l">
              <a:buNone/>
              <a:defRPr sz="900" spc="3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>
              <a:spcBef>
                <a:spcPts val="600"/>
              </a:spcBef>
              <a:buNone/>
            </a:pPr>
            <a:r>
              <a:rPr>
                <a:latin typeface="Futura Medium"/>
                <a:ea typeface="Futura Medium"/>
                <a:cs typeface="Futura Medium"/>
              </a:rPr>
              <a:t>© Beyond Next Ventures, Inc.</a:t>
            </a:r>
          </a:p>
          <a:p xmlns:a="http://schemas.openxmlformats.org/drawingml/2006/main">
            <a:pPr>
              <a:spcBef>
                <a:spcPts val="600"/>
              </a:spcBef>
              <a:buNone/>
            </a:pPr>
            <a:endParaRPr>
              <a:latin typeface="Futura Medium"/>
              <a:ea typeface="Futura Medium"/>
              <a:cs typeface="Futura Medium"/>
            </a:endParaRPr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背景（水色）">
    <p:bg>
      <p:bgPr>
        <a:blipFill xmlns:a="http://schemas.openxmlformats.org/drawingml/2006/main" rotWithShape="1">
          <a:blip xmlns:r="http://schemas.openxmlformats.org/officeDocument/2006/relationships" r:embed="R98a88472889b4f3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A6C9B31-7A6C-4584-9D51-CCC5EC22D6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05118" y="6383244"/>
            <a:ext cx="380998" cy="33823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b="0" i="0">
                <a:solidFill>
                  <a:schemeClr val="bg1"/>
                </a:solidFill>
                <a:latin typeface="Futura PT Cond Book Italic"/>
                <a:ea typeface="Futura PT Cond Book Italic"/>
                <a:cs typeface="Futura PT Cond Book Italic"/>
              </a:defRPr>
            </a:lvl1pPr>
          </a:lstStyle>
          <a:p xmlns:a="http://schemas.openxmlformats.org/drawingml/2006/main">
            <a:fld id="{EA818FD4-2EA2-0248-8203-5C0A81512996}" type="slidenum">
              <a:t>‹#›</a:t>
            </a:fld>
            <a:endParaRPr/>
          </a:p>
        </p:txBody>
      </p:sp>
      <p:sp>
        <p:nvSpPr>
          <p:cNvPr id="12" name="Subtitle 2">
            <a:extLst xmlns:a="http://schemas.openxmlformats.org/drawingml/2006/main">
              <a:ext uri="{FF2B5EF4-FFF2-40B4-BE49-F238E27FC236}">
                <a16:creationId xmlns:a16="http://schemas.microsoft.com/office/drawing/2014/main" id="{431762C3-8DEA-4DC3-928C-B8A1BA18F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2330" y="6283231"/>
            <a:ext cx="2227777" cy="198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000" spc="600">
                <a:solidFill>
                  <a:schemeClr val="bg1"/>
                </a:solidFill>
                <a:latin typeface="Futura Medium"/>
                <a:ea typeface="Futura Medium"/>
                <a:cs typeface="Futura Medium"/>
              </a:rPr>
              <a:t>•CONFIDENTIAL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0ffb49f658a45c6" /><Relationship Type="http://schemas.openxmlformats.org/officeDocument/2006/relationships/slideLayout" Target="/ppt/slideLayouts/slideLayout1.xml" Id="R3259eb47ec344644" /><Relationship Type="http://schemas.openxmlformats.org/officeDocument/2006/relationships/slideLayout" Target="/ppt/slideLayouts/slideLayout2.xml" Id="R05878488807249ae" /><Relationship Type="http://schemas.openxmlformats.org/officeDocument/2006/relationships/slideLayout" Target="/ppt/slideLayouts/slideLayout3.xml" Id="R590fbc375983497c" /><Relationship Type="http://schemas.openxmlformats.org/officeDocument/2006/relationships/slideLayout" Target="/ppt/slideLayouts/slideLayout4.xml" Id="Raeaf1d6e3a644792" /><Relationship Type="http://schemas.openxmlformats.org/officeDocument/2006/relationships/slideLayout" Target="/ppt/slideLayouts/slideLayout5.xml" Id="R0aa20d878a014736" /><Relationship Type="http://schemas.openxmlformats.org/officeDocument/2006/relationships/slideLayout" Target="/ppt/slideLayouts/slideLayout6.xml" Id="R119f07895fd844a4" /><Relationship Type="http://schemas.openxmlformats.org/officeDocument/2006/relationships/slideLayout" Target="/ppt/slideLayouts/slideLayout7.xml" Id="R01a8ed6c1f2f4afe" /><Relationship Type="http://schemas.openxmlformats.org/officeDocument/2006/relationships/slideLayout" Target="/ppt/slideLayouts/slideLayout8.xml" Id="R89a644ebd9fa4eb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F21164AB-2DB1-4F7E-ABED-50E1E0CF46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5938" y="133213"/>
            <a:ext cx="11160124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マスター タイトルの書式設定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110541-62FE-4B7C-B1CD-C2E2817E28A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F16487C-ADD5-4362-9002-414223056B1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DECEMBER 2019 | BEYOND NEXT VENTURES INC.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EED8952-6ED2-467D-B195-56C57B819D1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EA818FD4-2EA2-0248-8203-5C0A81512996}" type="slidenum">
              <a:t>‹#›</a:t>
            </a:fld>
            <a:endParaRPr/>
          </a:p>
        </p:txBody>
      </p:sp>
      <p:sp>
        <p:nvSpPr>
          <p:cNvPr id="7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F9530DE-6D21-48AE-9CFF-18258D62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2672" y="-286139"/>
            <a:ext cx="761777" cy="2239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8A99"/>
          </a:solidFill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146C1FE-7207-48DE-8A5C-5D52C60E9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8340" y="-286139"/>
            <a:ext cx="761777" cy="2239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5A57"/>
          </a:solidFill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A3D63AC-303A-4436-AC7B-37762984A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4008" y="-286139"/>
            <a:ext cx="761777" cy="2239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CCF"/>
          </a:solidFill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B89A86F-FA15-473D-8BA8-092C8D73D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9676" y="-286139"/>
            <a:ext cx="761777" cy="2239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B16A"/>
          </a:solidFill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971BA5A-6498-4E21-8DE7-F692E0EAB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5342" y="-286139"/>
            <a:ext cx="761777" cy="2239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D722"/>
          </a:solidFill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423A379-5C79-4985-89D5-98659A58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-286139"/>
            <a:ext cx="761777" cy="2239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54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C8F3483-12B3-4022-9862-29FB9556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68" y="-286139"/>
            <a:ext cx="761777" cy="2239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7CA3"/>
          </a:solidFill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ECD28BF-B294-40D6-ACCD-85EC933B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1336" y="-286139"/>
            <a:ext cx="761777" cy="2239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B5F5"/>
          </a:solidFill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EBFB2641-AF4C-4E50-88B9-BA644CC7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7004" y="-286139"/>
            <a:ext cx="761777" cy="2239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B509"/>
          </a:solidFill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59eb47ec344644"/>
    <p:sldLayoutId xmlns:r="http://schemas.openxmlformats.org/officeDocument/2006/relationships" id="2147483650" r:id="R05878488807249ae"/>
    <p:sldLayoutId xmlns:r="http://schemas.openxmlformats.org/officeDocument/2006/relationships" id="2147483651" r:id="R590fbc375983497c"/>
    <p:sldLayoutId xmlns:r="http://schemas.openxmlformats.org/officeDocument/2006/relationships" id="2147483652" r:id="Raeaf1d6e3a644792"/>
    <p:sldLayoutId xmlns:r="http://schemas.openxmlformats.org/officeDocument/2006/relationships" id="2147483653" r:id="R0aa20d878a014736"/>
    <p:sldLayoutId xmlns:r="http://schemas.openxmlformats.org/officeDocument/2006/relationships" id="2147483654" r:id="R119f07895fd844a4"/>
    <p:sldLayoutId xmlns:r="http://schemas.openxmlformats.org/officeDocument/2006/relationships" id="2147483655" r:id="R01a8ed6c1f2f4afe"/>
    <p:sldLayoutId xmlns:r="http://schemas.openxmlformats.org/officeDocument/2006/relationships" id="2147483656" r:id="R89a644ebd9fa4ebe"/>
  </p:sldLayoutIdLst>
  <p:hf hd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2000" b="1" kern="1200" spc="300" baseline="0">
          <a:solidFill>
            <a:schemeClr val="tx1"/>
          </a:solidFill>
          <a:latin typeface="FUTURA MEDIUM"/>
          <a:ea typeface="FUTURA MEDIUM"/>
          <a:cs typeface="FUTURA MEDIUM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xmlns:a="http://schemas.openxmlformats.org/drawingml/2006/main" val="F26B43"/>
          </p15:clr>
        </p15:guide>
        <p15:guide id="2" pos="7355">
          <p15:clr>
            <a:srgbClr xmlns:a="http://schemas.openxmlformats.org/drawingml/2006/main" val="F26B43"/>
          </p15:clr>
        </p15:guide>
        <p15:guide id="3" pos="325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テーマ">
  <a:themeElements>
    <a:clrScheme name="Beyond01">
      <a:dk1>
        <a:srgbClr val="212121"/>
      </a:dk1>
      <a:lt1>
        <a:srgbClr val="FFFFFF"/>
      </a:lt1>
      <a:dk2>
        <a:srgbClr val="000000"/>
      </a:dk2>
      <a:lt2>
        <a:srgbClr val="EEEEEE"/>
      </a:lt2>
      <a:accent1>
        <a:srgbClr val="002C54"/>
      </a:accent1>
      <a:accent2>
        <a:srgbClr val="207CA3"/>
      </a:accent2>
      <a:accent3>
        <a:srgbClr val="4CB5F5"/>
      </a:accent3>
      <a:accent4>
        <a:srgbClr val="EFB509"/>
      </a:accent4>
      <a:accent5>
        <a:srgbClr val="488A99"/>
      </a:accent5>
      <a:accent6>
        <a:srgbClr val="CE5957"/>
      </a:accent6>
      <a:hlink>
        <a:srgbClr val="7980FF"/>
      </a:hlink>
      <a:folHlink>
        <a:srgbClr val="7980FF"/>
      </a:folHlink>
    </a:clrScheme>
    <a:fontScheme name="ユーザー定義 2">
      <a:majorFont>
        <a:latin typeface="游ゴシック"/>
        <a:ea typeface="游ゴシック"/>
        <a:cs typeface="游ゴシック"/>
      </a:majorFont>
      <a:minorFont>
        <a:latin typeface="游ゴシック"/>
        <a:ea typeface="游ゴシック"/>
        <a:cs typeface=""/>
      </a:minorFont>
    </a:fontScheme>
    <a:fmtScheme name="Beyond0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6bf78a1409455d" /><Relationship Type="http://schemas.openxmlformats.org/officeDocument/2006/relationships/notesSlide" Target="/ppt/notesSlides/notesSlide1.xml" Id="R3a0fc3694ae645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5c2fb4ae0454868" /><Relationship Type="http://schemas.openxmlformats.org/officeDocument/2006/relationships/notesSlide" Target="/ppt/notesSlides/notesSlide2.xml" Id="R909527418d9846c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9ca587e7b54fca" /><Relationship Type="http://schemas.openxmlformats.org/officeDocument/2006/relationships/image" Target="/ppt/media/image5.png" Id="R8384632a1c074c70" /><Relationship Type="http://schemas.openxmlformats.org/officeDocument/2006/relationships/notesSlide" Target="/ppt/notesSlides/notesSlide3.xml" Id="Rfb38180dfc7345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acf8e2a5784c4b" /><Relationship Type="http://schemas.openxmlformats.org/officeDocument/2006/relationships/image" Target="/ppt/media/image6.png" Id="Rfc137553e4dc4016" /><Relationship Type="http://schemas.openxmlformats.org/officeDocument/2006/relationships/notesSlide" Target="/ppt/notesSlides/notesSlide4.xml" Id="Raf1af991dc024aa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db66682b63489e" /><Relationship Type="http://schemas.openxmlformats.org/officeDocument/2006/relationships/notesSlide" Target="/ppt/notesSlides/notesSlide5.xml" Id="Rcb280f166789490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30a14fc1d54dc1" /><Relationship Type="http://schemas.openxmlformats.org/officeDocument/2006/relationships/notesSlide" Target="/ppt/notesSlides/notesSlide6.xml" Id="R69676d8d56c84ab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78b0332de64305" /><Relationship Type="http://schemas.openxmlformats.org/officeDocument/2006/relationships/notesSlide" Target="/ppt/notesSlides/notesSlide7.xml" Id="R4722235998da462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fd4bca15a944d9" /><Relationship Type="http://schemas.openxmlformats.org/officeDocument/2006/relationships/notesSlide" Target="/ppt/notesSlides/notesSlide8.xml" Id="R750f69f349564e4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e2566fdbef4049" /><Relationship Type="http://schemas.openxmlformats.org/officeDocument/2006/relationships/image" Target="/ppt/media/image7.png" Id="Rddf58d2018d843e2" /><Relationship Type="http://schemas.openxmlformats.org/officeDocument/2006/relationships/image" Target="/ppt/media/image8.png" Id="R5ce7a813a2774339" /><Relationship Type="http://schemas.openxmlformats.org/officeDocument/2006/relationships/notesSlide" Target="/ppt/notesSlides/notesSlide9.xml" Id="R7f6726059c36412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2a451fb901468e" /><Relationship Type="http://schemas.openxmlformats.org/officeDocument/2006/relationships/image" Target="/ppt/media/image9.png" Id="Rf1fa90eec0cd4817" /><Relationship Type="http://schemas.openxmlformats.org/officeDocument/2006/relationships/notesSlide" Target="/ppt/notesSlides/notesSlide10.xml" Id="R6e948fb83443453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593e75c6e04b0a" /><Relationship Type="http://schemas.openxmlformats.org/officeDocument/2006/relationships/image" Target="/ppt/media/image10.png" Id="Rd649ecf3a2a64dd2" /><Relationship Type="http://schemas.openxmlformats.org/officeDocument/2006/relationships/notesSlide" Target="/ppt/notesSlides/notesSlide11.xml" Id="R7abf9c305fa6449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b88c9791424fa6" /><Relationship Type="http://schemas.openxmlformats.org/officeDocument/2006/relationships/image" Target="/ppt/media/image11.png" Id="Rd8a4adc2aa6145df" /><Relationship Type="http://schemas.openxmlformats.org/officeDocument/2006/relationships/notesSlide" Target="/ppt/notesSlides/notesSlide12.xml" Id="R92ab663fb07942d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bb8f0e366b4605" /><Relationship Type="http://schemas.openxmlformats.org/officeDocument/2006/relationships/notesSlide" Target="/ppt/notesSlides/notesSlide13.xml" Id="R6c8010333442408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6224442d564c9c" /><Relationship Type="http://schemas.openxmlformats.org/officeDocument/2006/relationships/notesSlide" Target="/ppt/notesSlides/notesSlide14.xml" Id="Rc9372a16f74f4b8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21d742b55c41d8" /><Relationship Type="http://schemas.openxmlformats.org/officeDocument/2006/relationships/notesSlide" Target="/ppt/notesSlides/notesSlide15.xml" Id="Ra2fbd43209e3474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0ad11afc584838" /><Relationship Type="http://schemas.openxmlformats.org/officeDocument/2006/relationships/notesSlide" Target="/ppt/notesSlides/notesSlide16.xml" Id="Rbc272d4acc13445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16102ff95a4b23" /><Relationship Type="http://schemas.openxmlformats.org/officeDocument/2006/relationships/hyperlink" Target="https://press.uchicago.edu/ucp/books/book/chicago/T/bo6035368.html" TargetMode="External" Id="Ra0528469b4aa4734" /><Relationship Type="http://schemas.openxmlformats.org/officeDocument/2006/relationships/hyperlink" Target="https://pubmed.ncbi.nlm.nih.gov/19739881/" TargetMode="External" Id="Rb59cd0d656e0411b" /><Relationship Type="http://schemas.openxmlformats.org/officeDocument/2006/relationships/hyperlink" Target="https://arxiv.org/abs/2303.08774" TargetMode="External" Id="R16a9f5c2541c4b5d" /><Relationship Type="http://schemas.openxmlformats.org/officeDocument/2006/relationships/notesSlide" Target="/ppt/notesSlides/notesSlide17.xml" Id="R32a87d75616e4f7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e1c2f3593a4673" /><Relationship Type="http://schemas.openxmlformats.org/officeDocument/2006/relationships/hyperlink" Target="https://chatgpt.com/share/e/6a9250c4-a114-800d-a4e5-cddfec75de1d" TargetMode="External" Id="Rdc37717659f64315" /><Relationship Type="http://schemas.openxmlformats.org/officeDocument/2006/relationships/hyperlink" Target="https://undraw.co/illustration/online-learning_tgmv" TargetMode="External" Id="Rdc560f7eb51d4519" /><Relationship Type="http://schemas.openxmlformats.org/officeDocument/2006/relationships/hyperlink" Target="https://undraw.co/illustration/file-analysis_nbtc" TargetMode="External" Id="R7de9720e0ba84058" /><Relationship Type="http://schemas.openxmlformats.org/officeDocument/2006/relationships/notesSlide" Target="/ppt/notesSlides/notesSlide18.xml" Id="Rcdc5434191ab4a8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689e03062f64422" /><Relationship Type="http://schemas.openxmlformats.org/officeDocument/2006/relationships/notesSlide" Target="/ppt/notesSlides/notesSlide19.xml" Id="R2c9d2592d0c5420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B0314058-32D4-902C-76AF-38DF452AD7E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AI時代の仕事観</a:t>
            </a:r>
          </a:p>
        </p:txBody>
      </p:sp>
      <p:sp>
        <p:nvSpPr>
          <p:cNvPr id="3" name="字幕 2">
            <a:extLst xmlns:a="http://schemas.openxmlformats.org/drawingml/2006/main">
              <a:ext uri="{FF2B5EF4-FFF2-40B4-BE49-F238E27FC236}">
                <a16:creationId xmlns:a16="http://schemas.microsoft.com/office/drawing/2014/main" id="{3FE77D7F-2315-7560-1CA2-FAADFF40EC7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センスを言語化し、組織とAIに残す</a:t>
            </a:r>
            <a:endParaRPr/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A23BAFF3-DE64-FC14-A9AD-930B66AAC33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  <a:buNone/>
            </a:pPr>
            <a:r>
              <a:t>© Beyond Next Ventures, Inc.</a:t>
            </a:r>
            <a:endParaRPr/>
          </a:p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EED8952-6ED2-467D-B195-56C57B819D1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AD75FED6-38D0-DE9C-92C0-6E7FA635581C}" type="slidenum"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8073925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0999AE3E-0AE7-A10F-E639-E819CEBFDA3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今日の問い</a:t>
            </a:r>
          </a:p>
        </p:txBody>
      </p:sp>
      <p:sp>
        <p:nvSpPr>
          <p:cNvPr id="3" name="字幕 2">
            <a:extLst xmlns:a="http://schemas.openxmlformats.org/drawingml/2006/main">
              <a:ext uri="{FF2B5EF4-FFF2-40B4-BE49-F238E27FC236}">
                <a16:creationId xmlns:a16="http://schemas.microsoft.com/office/drawing/2014/main" id="{4AB36C70-C7B1-D5DF-9E2A-DFCB49F0B55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AI時代、人間は何を仕事として担うのか？</a:t>
            </a:r>
            <a:endParaRPr/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79BB8244-D01A-DE0F-559B-BA51461BD42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  <a:buNone/>
            </a:pPr>
            <a:r>
              <a:rPr>
                <a:latin typeface="Futura Medium"/>
                <a:ea typeface="Futura Medium"/>
                <a:cs typeface="Futura Medium"/>
              </a:rPr>
              <a:t>© Beyond Next Ventures, Inc.</a:t>
            </a:r>
          </a:p>
        </p:txBody>
      </p:sp>
      <p:sp>
        <p:nvSpPr>
          <p:cNvPr id="5" name="confidential-cover">
            <a:extLst xmlns:a="http://schemas.openxmlformats.org/drawingml/2006/main">
              <a:ext uri="{FF2B5EF4-FFF2-40B4-BE49-F238E27FC236}">
                <a16:creationId xmlns:a16="http://schemas.microsoft.com/office/drawing/2014/main" id="{574412FA-C125-4273-8958-F97844A0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52450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A5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confidential-relocated">
            <a:extLst xmlns:a="http://schemas.openxmlformats.org/drawingml/2006/main">
              <a:ext uri="{FF2B5EF4-FFF2-40B4-BE49-F238E27FC236}">
                <a16:creationId xmlns:a16="http://schemas.microsoft.com/office/drawing/2014/main" id="{4A79200D-BE44-4A6E-83C0-3F2E29AB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0483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• C O N F I D E N T I A L</a:t>
            </a:r>
          </a:p>
        </p:txBody>
      </p:sp>
      <p:sp>
        <p:nvSpPr>
          <p:cNvPr id="7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EED8952-6ED2-467D-B195-56C57B819D1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208846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センスって何だろう？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センスとは、経験や好みの積み重ねから、無意識に『こちらが良い』と選び取る判断。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84632a1c074c70"/>
          <a:srcRect xmlns:a="http://schemas.openxmlformats.org/drawingml/2006/main" l="0" t="5795" r="0" b="57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38625" y="1571625"/>
            <a:ext cx="7191375" cy="4238625"/>
          </a:xfrm>
          <a:prstGeom xmlns:a="http://schemas.openxmlformats.org/drawingml/2006/main" prst="rect">
            <a:avLst/>
          </a:prstGeom>
        </p:spPr>
      </p:pic>
      <p:sp>
        <p:nvSpPr>
          <p:cNvPr id="6" name="sense-definition">
            <a:extLst xmlns:a="http://schemas.openxmlformats.org/drawingml/2006/main">
              <a:ext uri="{FF2B5EF4-FFF2-40B4-BE49-F238E27FC236}">
                <a16:creationId xmlns:a16="http://schemas.microsoft.com/office/drawing/2014/main" id="{163C9FF7-2648-45F5-92A7-35A06A4B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95500"/>
            <a:ext cx="3905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1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経験と好みが積み重なり</a:t>
            </a:r>
          </a:p>
          <a:p xmlns:a="http://schemas.openxmlformats.org/drawingml/2006/main">
            <a:pPr>
              <a:buNone/>
              <a:defRPr sz="21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1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無意識に『こちらが良い』と選ぶ</a:t>
            </a:r>
          </a:p>
        </p:txBody>
      </p:sp>
      <p:sp>
        <p:nvSpPr>
          <p:cNvPr id="7" name="sense-examples">
            <a:extLst xmlns:a="http://schemas.openxmlformats.org/drawingml/2006/main">
              <a:ext uri="{FF2B5EF4-FFF2-40B4-BE49-F238E27FC236}">
                <a16:creationId xmlns:a16="http://schemas.microsoft.com/office/drawing/2014/main" id="{66EF1599-1CB9-4592-9E10-A945917A1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81375"/>
            <a:ext cx="3905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575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rPr>
              <a:t>・服・味・人・場の空気を感じる</a:t>
            </a:r>
          </a:p>
          <a:p xmlns:a="http://schemas.openxmlformats.org/drawingml/2006/main">
            <a:pPr>
              <a:buNone/>
              <a:defRPr sz="1575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575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rPr>
              <a:t>・似た選択肢から一方を選ぶ</a:t>
            </a:r>
          </a:p>
          <a:p xmlns:a="http://schemas.openxmlformats.org/drawingml/2006/main">
            <a:pPr>
              <a:buNone/>
              <a:defRPr sz="1575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575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rPr>
              <a:t>・あとから理由を説明することもある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センスは教科書だけでは育たない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知識は学べる。センスは、経験し、試し、振り返って磨く。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137553e4dc4016"/>
          <a:srcRect xmlns:a="http://schemas.openxmlformats.org/drawingml/2006/main" l="0" t="5500" r="0" b="55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86250" y="1571625"/>
            <a:ext cx="7143750" cy="4238625"/>
          </a:xfrm>
          <a:prstGeom xmlns:a="http://schemas.openxmlformats.org/drawingml/2006/main" prst="rect">
            <a:avLst/>
          </a:prstGeom>
        </p:spPr>
      </p:pic>
      <p:sp>
        <p:nvSpPr>
          <p:cNvPr id="6" name="title-render-fix">
            <a:extLst xmlns:a="http://schemas.openxmlformats.org/drawingml/2006/main">
              <a:ext uri="{FF2B5EF4-FFF2-40B4-BE49-F238E27FC236}">
                <a16:creationId xmlns:a16="http://schemas.microsoft.com/office/drawing/2014/main" id="{FCDB05CB-25B3-420B-A817-58D9C606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477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14350" tIns="0" rIns="1143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02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センスは教科書だけでは育たない</a:t>
            </a:r>
          </a:p>
        </p:txBody>
      </p:sp>
      <p:sp>
        <p:nvSpPr>
          <p:cNvPr id="7" name="textbook-thesis">
            <a:extLst xmlns:a="http://schemas.openxmlformats.org/drawingml/2006/main">
              <a:ext uri="{FF2B5EF4-FFF2-40B4-BE49-F238E27FC236}">
                <a16:creationId xmlns:a16="http://schemas.microsoft.com/office/drawing/2014/main" id="{F5C5A2DA-F9C6-4729-B65A-3A568190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95500"/>
            <a:ext cx="3810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32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教科書で学べるのは</a:t>
            </a:r>
          </a:p>
          <a:p xmlns:a="http://schemas.openxmlformats.org/drawingml/2006/main">
            <a:pPr>
              <a:buNone/>
              <a:defRPr sz="232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32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知識と型</a:t>
            </a:r>
          </a:p>
        </p:txBody>
      </p:sp>
      <p:sp>
        <p:nvSpPr>
          <p:cNvPr id="8" name="textbook-beyond">
            <a:extLst xmlns:a="http://schemas.openxmlformats.org/drawingml/2006/main">
              <a:ext uri="{FF2B5EF4-FFF2-40B4-BE49-F238E27FC236}">
                <a16:creationId xmlns:a16="http://schemas.microsoft.com/office/drawing/2014/main" id="{4178117F-7F39-4052-809D-2BC2B288A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33750"/>
            <a:ext cx="3905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207CA3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207CA3"/>
                </a:solidFill>
                <a:latin typeface="游ゴシック"/>
                <a:ea typeface="游ゴシック"/>
                <a:cs typeface="游ゴシック"/>
              </a:rPr>
              <a:t>センスは、現実に触れたときの</a:t>
            </a:r>
          </a:p>
          <a:p xmlns:a="http://schemas.openxmlformats.org/drawingml/2006/main">
            <a:pPr>
              <a:buNone/>
              <a:defRPr sz="1800" b="1">
                <a:solidFill>
                  <a:srgbClr val="207CA3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207CA3"/>
                </a:solidFill>
                <a:latin typeface="游ゴシック"/>
                <a:ea typeface="游ゴシック"/>
                <a:cs typeface="游ゴシック"/>
              </a:rPr>
              <a:t>成功・失敗・違和感で育つ</a:t>
            </a:r>
          </a:p>
        </p:txBody>
      </p:sp>
      <p:sp>
        <p:nvSpPr>
          <p:cNvPr id="9" name="textbook-callout">
            <a:extLst xmlns:a="http://schemas.openxmlformats.org/drawingml/2006/main">
              <a:ext uri="{FF2B5EF4-FFF2-40B4-BE49-F238E27FC236}">
                <a16:creationId xmlns:a16="http://schemas.microsoft.com/office/drawing/2014/main" id="{0A17C687-F340-464B-BAA0-8450817D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05375"/>
            <a:ext cx="3905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002C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72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知るだけではなく、経験して磨く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仕事にも未言語の判断がある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五感と経験で磨いたセンスは、仕事の『なんか違う』にも表れる。</a:t>
            </a:r>
          </a:p>
        </p:txBody>
      </p:sp>
      <p:sp>
        <p:nvSpPr>
          <p:cNvPr id="5" name="work-sense-list">
            <a:extLst xmlns:a="http://schemas.openxmlformats.org/drawingml/2006/main">
              <a:ext uri="{FF2B5EF4-FFF2-40B4-BE49-F238E27FC236}">
                <a16:creationId xmlns:a16="http://schemas.microsoft.com/office/drawing/2014/main" id="{099FBF35-5F23-4ABF-8289-35F95189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57375"/>
            <a:ext cx="628650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t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2">
              <a:spcAft>
                <a:spcPts val="12"/>
              </a:spcAft>
              <a:buChar char="•"/>
              <a:defRPr sz="1875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t>この資料は、なんか違う</a:t>
            </a:r>
          </a:p>
          <a:p xmlns:a="http://schemas.openxmlformats.org/drawingml/2006/main">
            <a:pPr marL="24" indent="-12">
              <a:spcAft>
                <a:spcPts val="12"/>
              </a:spcAft>
              <a:buChar char="•"/>
              <a:defRPr sz="1875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t>この候補者は、うちに合いそう</a:t>
            </a:r>
          </a:p>
          <a:p xmlns:a="http://schemas.openxmlformats.org/drawingml/2006/main">
            <a:pPr marL="24" indent="-12">
              <a:spcAft>
                <a:spcPts val="12"/>
              </a:spcAft>
              <a:buChar char="•"/>
              <a:defRPr sz="1875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t>このメールは、この言い方ではない</a:t>
            </a:r>
          </a:p>
          <a:p xmlns:a="http://schemas.openxmlformats.org/drawingml/2006/main">
            <a:pPr marL="24" indent="-12">
              <a:spcAft>
                <a:spcPts val="12"/>
              </a:spcAft>
              <a:buChar char="•"/>
              <a:defRPr sz="1875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t>この数字は、一度確認した方がいい</a:t>
            </a:r>
          </a:p>
        </p:txBody>
      </p:sp>
      <p:sp>
        <p:nvSpPr>
          <p:cNvPr id="6" name="work-sense-quote">
            <a:extLst xmlns:a="http://schemas.openxmlformats.org/drawingml/2006/main">
              <a:ext uri="{FF2B5EF4-FFF2-40B4-BE49-F238E27FC236}">
                <a16:creationId xmlns:a16="http://schemas.microsoft.com/office/drawing/2014/main" id="{7333096B-AC70-40EE-A5F0-A1611C8E5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76500"/>
            <a:ext cx="3714750" cy="1190625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002C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22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322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『なんか違う』</a:t>
            </a:r>
          </a:p>
        </p:txBody>
      </p:sp>
      <p:sp>
        <p:nvSpPr>
          <p:cNvPr id="7" name="work-sense-caption">
            <a:extLst xmlns:a="http://schemas.openxmlformats.org/drawingml/2006/main">
              <a:ext uri="{FF2B5EF4-FFF2-40B4-BE49-F238E27FC236}">
                <a16:creationId xmlns:a16="http://schemas.microsoft.com/office/drawing/2014/main" id="{40C71511-9C17-4C5E-B197-DBA4B13FF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05250"/>
            <a:ext cx="3524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950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その違和感の中に</a:t>
            </a:r>
          </a:p>
          <a:p xmlns:a="http://schemas.openxmlformats.org/drawingml/2006/main">
            <a:pPr algn="ctr">
              <a:buNone/>
              <a:defRPr sz="1950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950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判断基準が隠れている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人は言葉になる前に気づける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AIが見落とす未言語の違和感を、人は五感で感じ取れる。</a:t>
            </a:r>
          </a:p>
        </p:txBody>
      </p:sp>
      <p:sp>
        <p:nvSpPr>
          <p:cNvPr id="5" name="human-sense">
            <a:extLst xmlns:a="http://schemas.openxmlformats.org/drawingml/2006/main">
              <a:ext uri="{FF2B5EF4-FFF2-40B4-BE49-F238E27FC236}">
                <a16:creationId xmlns:a16="http://schemas.microsoft.com/office/drawing/2014/main" id="{4A0F9FEC-E00A-4917-98B2-17E0AFDF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52197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09550" tIns="152400" rIns="209550" bIns="1524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>
                <a:latin typeface="游ゴシック"/>
                <a:ea typeface="游ゴシック"/>
                <a:cs typeface="游ゴシック"/>
              </a:defRPr>
            </a:pPr>
            <a:r>
              <a:rPr sz="202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人間の強み</a:t>
            </a:r>
          </a:p>
          <a:p xmlns:a="http://schemas.openxmlformats.org/drawingml/2006/main">
            <a:pPr>
              <a:buNone/>
              <a:defRPr>
                <a:latin typeface="游ゴシック"/>
                <a:ea typeface="游ゴシック"/>
                <a:cs typeface="游ゴシック"/>
              </a:defRPr>
            </a:pPr>
            <a:r>
              <a:rPr sz="1650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五感と経験から
言葉になる前の違和感に気づく
現場で判断し、センスを磨ける</a:t>
            </a:r>
          </a:p>
        </p:txBody>
      </p:sp>
      <p:sp>
        <p:nvSpPr>
          <p:cNvPr id="6" name="ai-input">
            <a:extLst xmlns:a="http://schemas.openxmlformats.org/drawingml/2006/main">
              <a:ext uri="{FF2B5EF4-FFF2-40B4-BE49-F238E27FC236}">
                <a16:creationId xmlns:a16="http://schemas.microsoft.com/office/drawing/2014/main" id="{83C86CA4-A76A-46CE-8353-124B2458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09750"/>
            <a:ext cx="52197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09550" tIns="152400" rIns="209550" bIns="1524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>
                <a:latin typeface="游ゴシック"/>
                <a:ea typeface="游ゴシック"/>
                <a:cs typeface="游ゴシック"/>
              </a:defRPr>
            </a:pPr>
            <a:r>
              <a:rPr sz="202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AIが見られるもの</a:t>
            </a:r>
          </a:p>
          <a:p xmlns:a="http://schemas.openxmlformats.org/drawingml/2006/main">
            <a:pPr>
              <a:buNone/>
              <a:defRPr>
                <a:latin typeface="游ゴシック"/>
                <a:ea typeface="游ゴシック"/>
                <a:cs typeface="游ゴシック"/>
              </a:defRPr>
            </a:pPr>
            <a:r>
              <a:rPr sz="165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入力されたデータと言葉
言語化されない違和感には
自動では気づけない</a:t>
            </a:r>
          </a:p>
        </p:txBody>
      </p:sp>
      <p:sp>
        <p:nvSpPr>
          <p:cNvPr id="7" name="sense-language-callout">
            <a:extLst xmlns:a="http://schemas.openxmlformats.org/drawingml/2006/main">
              <a:ext uri="{FF2B5EF4-FFF2-40B4-BE49-F238E27FC236}">
                <a16:creationId xmlns:a16="http://schemas.microsoft.com/office/drawing/2014/main" id="{FFEB439C-F9DD-47B9-BC4D-0DED2613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95875"/>
            <a:ext cx="8763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75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rPr>
              <a:t>言語化は難しい。でも不可能ではない。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75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rPr>
              <a:t>言葉にすれば、センスはAIへ渡せる。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AIにはセンスがあるのか？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人間と同じセンスではない。でも、センスらしい出力はつくれる。</a:t>
            </a:r>
          </a:p>
        </p:txBody>
      </p:sp>
      <p:sp>
        <p:nvSpPr>
          <p:cNvPr id="5" name="ai-sense-question">
            <a:extLst xmlns:a="http://schemas.openxmlformats.org/drawingml/2006/main">
              <a:ext uri="{FF2B5EF4-FFF2-40B4-BE49-F238E27FC236}">
                <a16:creationId xmlns:a16="http://schemas.microsoft.com/office/drawing/2014/main" id="{85A63826-C98E-4294-94D2-8707C067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809750"/>
            <a:ext cx="7429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02C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31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同じ『センス』と</a:t>
            </a:r>
          </a:p>
          <a:p xmlns:a="http://schemas.openxmlformats.org/drawingml/2006/main">
            <a:pPr algn="ctr">
              <a:buNone/>
              <a:defRPr sz="31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31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呼んでいいだろうか？</a:t>
            </a:r>
          </a:p>
        </p:txBody>
      </p:sp>
      <p:sp>
        <p:nvSpPr>
          <p:cNvPr id="6" name="human-sense-side">
            <a:extLst xmlns:a="http://schemas.openxmlformats.org/drawingml/2006/main">
              <a:ext uri="{FF2B5EF4-FFF2-40B4-BE49-F238E27FC236}">
                <a16:creationId xmlns:a16="http://schemas.microsoft.com/office/drawing/2014/main" id="{A7CE26B4-4AE4-4471-BD89-2119CC7A7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57625"/>
            <a:ext cx="4095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EAF6FB"/>
          </a:solidFill>
          <a:ln xmlns:a="http://schemas.openxmlformats.org/drawingml/2006/main" w="19050">
            <a:solidFill>
              <a:srgbClr val="4CB5F5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人間のセンス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経験・好み・五感が積み重なる</a:t>
            </a:r>
          </a:p>
        </p:txBody>
      </p:sp>
      <p:sp>
        <p:nvSpPr>
          <p:cNvPr id="7" name="sense-not-equal">
            <a:extLst xmlns:a="http://schemas.openxmlformats.org/drawingml/2006/main">
              <a:ext uri="{FF2B5EF4-FFF2-40B4-BE49-F238E27FC236}">
                <a16:creationId xmlns:a16="http://schemas.microsoft.com/office/drawing/2014/main" id="{9F20F354-85B4-4315-BE66-8B35A3984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048125"/>
            <a:ext cx="104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3600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rPr>
              <a:t>≠</a:t>
            </a:r>
          </a:p>
        </p:txBody>
      </p:sp>
      <p:sp>
        <p:nvSpPr>
          <p:cNvPr id="8" name="ai-sense-side">
            <a:extLst xmlns:a="http://schemas.openxmlformats.org/drawingml/2006/main">
              <a:ext uri="{FF2B5EF4-FFF2-40B4-BE49-F238E27FC236}">
                <a16:creationId xmlns:a16="http://schemas.microsoft.com/office/drawing/2014/main" id="{7F8B0042-5B31-4FB3-9F8A-B3D77110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857625"/>
            <a:ext cx="4095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EAF6FB"/>
          </a:solidFill>
          <a:ln xmlns:a="http://schemas.openxmlformats.org/drawingml/2006/main" w="19050">
            <a:solidFill>
              <a:srgbClr val="4CB5F5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AIの『センスらしさ』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データ・言葉・パターンを学ぶ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AIは入力された世界しか見えない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AIはデータと言葉から学ぶ。現場を五感で生きてはいない。</a:t>
            </a:r>
          </a:p>
        </p:txBody>
      </p:sp>
      <p:sp>
        <p:nvSpPr>
          <p:cNvPr id="5" name="learn-arrow-0">
            <a:extLst xmlns:a="http://schemas.openxmlformats.org/drawingml/2006/main">
              <a:ext uri="{FF2B5EF4-FFF2-40B4-BE49-F238E27FC236}">
                <a16:creationId xmlns:a16="http://schemas.microsoft.com/office/drawing/2014/main" id="{CB38D0D8-C9AA-4219-ACDA-3722D43D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57500"/>
            <a:ext cx="8572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CB5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learn-arrow-1">
            <a:extLst xmlns:a="http://schemas.openxmlformats.org/drawingml/2006/main">
              <a:ext uri="{FF2B5EF4-FFF2-40B4-BE49-F238E27FC236}">
                <a16:creationId xmlns:a16="http://schemas.microsoft.com/office/drawing/2014/main" id="{C73FF505-D6B1-402E-8A83-48FD096F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857500"/>
            <a:ext cx="8572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CB5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learn-node-0">
            <a:extLst xmlns:a="http://schemas.openxmlformats.org/drawingml/2006/main">
              <a:ext uri="{FF2B5EF4-FFF2-40B4-BE49-F238E27FC236}">
                <a16:creationId xmlns:a16="http://schemas.microsoft.com/office/drawing/2014/main" id="{B515E360-71B8-4A95-B7A3-4C2A9F9ED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43125"/>
            <a:ext cx="2667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AF6FB"/>
          </a:solidFill>
          <a:ln xmlns:a="http://schemas.openxmlformats.org/drawingml/2006/main" w="19050">
            <a:solidFill>
              <a:srgbClr val="4CB5F5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9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入力された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9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データと言葉</a:t>
            </a:r>
          </a:p>
        </p:txBody>
      </p:sp>
      <p:sp>
        <p:nvSpPr>
          <p:cNvPr id="8" name="learn-node-1">
            <a:extLst xmlns:a="http://schemas.openxmlformats.org/drawingml/2006/main">
              <a:ext uri="{FF2B5EF4-FFF2-40B4-BE49-F238E27FC236}">
                <a16:creationId xmlns:a16="http://schemas.microsoft.com/office/drawing/2014/main" id="{DE35169A-C1A7-40C2-AD3F-FF4E2DAD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143125"/>
            <a:ext cx="2667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AF6FB"/>
          </a:solidFill>
          <a:ln xmlns:a="http://schemas.openxmlformats.org/drawingml/2006/main" w="19050">
            <a:solidFill>
              <a:srgbClr val="4CB5F5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9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規則性・パターンを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9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学ぶ</a:t>
            </a:r>
          </a:p>
        </p:txBody>
      </p:sp>
      <p:sp>
        <p:nvSpPr>
          <p:cNvPr id="9" name="learn-node-2">
            <a:extLst xmlns:a="http://schemas.openxmlformats.org/drawingml/2006/main">
              <a:ext uri="{FF2B5EF4-FFF2-40B4-BE49-F238E27FC236}">
                <a16:creationId xmlns:a16="http://schemas.microsoft.com/office/drawing/2014/main" id="{781CB275-5880-4B8F-91A5-AB9A4EC0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143125"/>
            <a:ext cx="2667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02C54"/>
          </a:solidFill>
          <a:ln xmlns:a="http://schemas.openxmlformats.org/drawingml/2006/main" w="19050">
            <a:solidFill>
              <a:srgbClr val="002C54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9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もっともらしい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9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出力をつくる</a:t>
            </a:r>
          </a:p>
        </p:txBody>
      </p:sp>
      <p:sp>
        <p:nvSpPr>
          <p:cNvPr id="10" name="unseen-sense">
            <a:extLst xmlns:a="http://schemas.openxmlformats.org/drawingml/2006/main">
              <a:ext uri="{FF2B5EF4-FFF2-40B4-BE49-F238E27FC236}">
                <a16:creationId xmlns:a16="http://schemas.microsoft.com/office/drawing/2014/main" id="{881A885F-1A21-452C-A255-4E0D2D7A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38625"/>
            <a:ext cx="8763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1F0"/>
          </a:solidFill>
          <a:ln xmlns:a="http://schemas.openxmlformats.org/drawingml/2006/main" w="19050">
            <a:solidFill>
              <a:srgbClr val="CE5957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950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rPr>
              <a:t>言語化されない違和感・空気・身体感覚</a:t>
            </a:r>
          </a:p>
        </p:txBody>
      </p:sp>
      <p:sp>
        <p:nvSpPr>
          <p:cNvPr id="11" name="learning-limit">
            <a:extLst xmlns:a="http://schemas.openxmlformats.org/drawingml/2006/main">
              <a:ext uri="{FF2B5EF4-FFF2-40B4-BE49-F238E27FC236}">
                <a16:creationId xmlns:a16="http://schemas.microsoft.com/office/drawing/2014/main" id="{C2D1ED0B-B028-46F9-A188-FFB1197E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000625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AIには自動で届かない。だから現場でセンスを磨くのは難しい。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『それらしい』と『本質的』は違う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素人にはすごく見えても、専門家にはズレが見えることがある。</a:t>
            </a:r>
          </a:p>
        </p:txBody>
      </p:sp>
      <p:sp>
        <p:nvSpPr>
          <p:cNvPr id="5" name="novice-label">
            <a:extLst xmlns:a="http://schemas.openxmlformats.org/drawingml/2006/main">
              <a:ext uri="{FF2B5EF4-FFF2-40B4-BE49-F238E27FC236}">
                <a16:creationId xmlns:a16="http://schemas.microsoft.com/office/drawing/2014/main" id="{47C35127-D29C-40C8-ACA9-B3860006F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145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02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素人の目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f58d2018d843e2"/>
          <a:stretch xmlns:a="http://schemas.openxmlformats.org/drawingml/2006/main"/>
        </p:blipFill>
        <p:spPr>
          <a:xfrm xmlns:a="http://schemas.openxmlformats.org/drawingml/2006/main">
            <a:off x="666750" y="2147943"/>
            <a:ext cx="2952750" cy="2133490"/>
          </a:xfrm>
          <a:prstGeom xmlns:a="http://schemas.openxmlformats.org/drawingml/2006/main" prst="rect">
            <a:avLst/>
          </a:prstGeom>
        </p:spPr>
      </p:pic>
      <p:sp>
        <p:nvSpPr>
          <p:cNvPr id="7" name="novice-comment">
            <a:extLst xmlns:a="http://schemas.openxmlformats.org/drawingml/2006/main">
              <a:ext uri="{FF2B5EF4-FFF2-40B4-BE49-F238E27FC236}">
                <a16:creationId xmlns:a16="http://schemas.microsoft.com/office/drawing/2014/main" id="{57F1943B-742D-462D-ACBD-7EA42A34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333875"/>
            <a:ext cx="266700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EAF6FB"/>
          </a:solidFill>
          <a:ln xmlns:a="http://schemas.openxmlformats.org/drawingml/2006/main" w="19050">
            <a:solidFill>
              <a:srgbClr val="4CB5F5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1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『すごそう！』</a:t>
            </a:r>
          </a:p>
        </p:txBody>
      </p:sp>
      <p:sp>
        <p:nvSpPr>
          <p:cNvPr id="8" name="plausible-output">
            <a:extLst xmlns:a="http://schemas.openxmlformats.org/drawingml/2006/main">
              <a:ext uri="{FF2B5EF4-FFF2-40B4-BE49-F238E27FC236}">
                <a16:creationId xmlns:a16="http://schemas.microsoft.com/office/drawing/2014/main" id="{6A0F5EE8-0950-4537-9F51-B72B77E8E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95500"/>
            <a:ext cx="3810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002C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AIの</a:t>
            </a:r>
          </a:p>
          <a:p xmlns:a="http://schemas.openxmlformats.org/drawingml/2006/main">
            <a:pPr algn="ctr">
              <a:buNone/>
              <a:defRPr sz="2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もっともらしい</a:t>
            </a:r>
          </a:p>
          <a:p xmlns:a="http://schemas.openxmlformats.org/drawingml/2006/main">
            <a:pPr algn="ctr">
              <a:buNone/>
              <a:defRPr sz="2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成果物</a:t>
            </a:r>
          </a:p>
        </p:txBody>
      </p:sp>
      <p:sp>
        <p:nvSpPr>
          <p:cNvPr id="9" name="expert-label">
            <a:extLst xmlns:a="http://schemas.openxmlformats.org/drawingml/2006/main">
              <a:ext uri="{FF2B5EF4-FFF2-40B4-BE49-F238E27FC236}">
                <a16:creationId xmlns:a16="http://schemas.microsoft.com/office/drawing/2014/main" id="{8AF82855-5DDB-4442-BD0C-E0AC18E51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7145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02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専門家の目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e7a813a2774339"/>
          <a:stretch xmlns:a="http://schemas.openxmlformats.org/drawingml/2006/main"/>
        </p:blipFill>
        <p:spPr>
          <a:xfrm xmlns:a="http://schemas.openxmlformats.org/drawingml/2006/main">
            <a:off x="8759777" y="2143125"/>
            <a:ext cx="2578195" cy="2143125"/>
          </a:xfrm>
          <a:prstGeom xmlns:a="http://schemas.openxmlformats.org/drawingml/2006/main" prst="rect">
            <a:avLst/>
          </a:prstGeom>
        </p:spPr>
      </p:pic>
      <p:sp>
        <p:nvSpPr>
          <p:cNvPr id="11" name="expert-comment">
            <a:extLst xmlns:a="http://schemas.openxmlformats.org/drawingml/2006/main">
              <a:ext uri="{FF2B5EF4-FFF2-40B4-BE49-F238E27FC236}">
                <a16:creationId xmlns:a16="http://schemas.microsoft.com/office/drawing/2014/main" id="{E7FD46E9-2BFE-4A30-A987-34CE6C5E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333875"/>
            <a:ext cx="3143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6FB"/>
          </a:solidFill>
          <a:ln xmlns:a="http://schemas.openxmlformats.org/drawingml/2006/main" w="19050">
            <a:solidFill>
              <a:srgbClr val="4CB5F5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9718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前提・文脈・判断基準の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ズレが見える</a:t>
            </a:r>
          </a:p>
        </p:txBody>
      </p:sp>
      <p:sp>
        <p:nvSpPr>
          <p:cNvPr id="12" name="essence-gap">
            <a:extLst xmlns:a="http://schemas.openxmlformats.org/drawingml/2006/main">
              <a:ext uri="{FF2B5EF4-FFF2-40B4-BE49-F238E27FC236}">
                <a16:creationId xmlns:a16="http://schemas.microsoft.com/office/drawing/2014/main" id="{509228D9-62D0-4708-9B28-CA7C6152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191125"/>
            <a:ext cx="704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100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rPr>
              <a:t>見た目の完成度  ≠  本質的な正しさ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AI様にセンスを納品する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会社固有の判断基準は、言語化して初めてAIへ渡せる。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fa90eec0cd4817"/>
          <a:stretch xmlns:a="http://schemas.openxmlformats.org/drawingml/2006/main"/>
        </p:blipFill>
        <p:spPr>
          <a:xfrm xmlns:a="http://schemas.openxmlformats.org/drawingml/2006/main">
            <a:off x="2921000" y="1476375"/>
            <a:ext cx="635000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これが、いまの会社の現状です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AIから見えない場所に情報と判断基準が散らばっている。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49ecf3a2a64dd2"/>
          <a:stretch xmlns:a="http://schemas.openxmlformats.org/drawingml/2006/main"/>
        </p:blipFill>
        <p:spPr>
          <a:xfrm xmlns:a="http://schemas.openxmlformats.org/drawingml/2006/main">
            <a:off x="1143000" y="1524000"/>
            <a:ext cx="6096000" cy="4572000"/>
          </a:xfrm>
          <a:prstGeom xmlns:a="http://schemas.openxmlformats.org/drawingml/2006/main" prst="rect">
            <a:avLst/>
          </a:prstGeom>
        </p:spPr>
      </p:pic>
      <p:sp>
        <p:nvSpPr>
          <p:cNvPr id="6" name="current-cause">
            <a:extLst xmlns:a="http://schemas.openxmlformats.org/drawingml/2006/main">
              <a:ext uri="{FF2B5EF4-FFF2-40B4-BE49-F238E27FC236}">
                <a16:creationId xmlns:a16="http://schemas.microsoft.com/office/drawing/2014/main" id="{103B0F73-4F3F-4653-A28F-68F80CDD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952625"/>
            <a:ext cx="3048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CE5957"/>
          </a:solidFill>
          <a:ln xmlns:a="http://schemas.openxmlformats.org/drawingml/2006/main" w="9525">
            <a:solidFill>
              <a:srgbClr val="CE5957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1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原因</a:t>
            </a:r>
          </a:p>
        </p:txBody>
      </p:sp>
      <p:sp>
        <p:nvSpPr>
          <p:cNvPr id="7" name="current-cause-list">
            <a:extLst xmlns:a="http://schemas.openxmlformats.org/drawingml/2006/main">
              <a:ext uri="{FF2B5EF4-FFF2-40B4-BE49-F238E27FC236}">
                <a16:creationId xmlns:a16="http://schemas.microsoft.com/office/drawing/2014/main" id="{308BE18A-97E2-41F5-ADD6-04FFC0B82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67000"/>
            <a:ext cx="30480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1F0"/>
          </a:solidFill>
          <a:ln xmlns:a="http://schemas.openxmlformats.org/drawingml/2006/main" w="19050">
            <a:solidFill>
              <a:srgbClr val="CE5957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・業務が言語化されず、</a:t>
            </a:r>
          </a:p>
          <a:p xmlns:a="http://schemas.openxmlformats.org/drawingml/2006/main">
            <a:pPr>
              <a:buNone/>
              <a:def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　属人化している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・情報が一元管理</a:t>
            </a:r>
          </a:p>
          <a:p xmlns:a="http://schemas.openxmlformats.org/drawingml/2006/main">
            <a:pPr>
              <a:buNone/>
              <a:def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　されていない</a:t>
            </a:r>
          </a:p>
        </p:txBody>
      </p:sp>
      <p:sp>
        <p:nvSpPr>
          <p:cNvPr id="8" name="current-caption">
            <a:extLst xmlns:a="http://schemas.openxmlformats.org/drawingml/2006/main">
              <a:ext uri="{FF2B5EF4-FFF2-40B4-BE49-F238E27FC236}">
                <a16:creationId xmlns:a16="http://schemas.microsoft.com/office/drawing/2014/main" id="{9C3B6770-3BF1-4478-9FB7-6AEC20E0D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1911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725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rPr>
              <a:t>AI様は『参照不可』のまま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PDCAが簡単になる世界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AI様の力で、実行と確認を高速に回せる。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a4adc2aa6145df"/>
          <a:stretch xmlns:a="http://schemas.openxmlformats.org/drawingml/2006/main"/>
        </p:blipFill>
        <p:spPr>
          <a:xfrm xmlns:a="http://schemas.openxmlformats.org/drawingml/2006/main">
            <a:off x="2921000" y="1476375"/>
            <a:ext cx="635000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DoとCheckはAIに任せる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作る・調べる・比べる・確認する。作業の反復はAIが得意。</a:t>
            </a:r>
          </a:p>
        </p:txBody>
      </p:sp>
      <p:sp>
        <p:nvSpPr>
          <p:cNvPr id="5" name="do-letter">
            <a:extLst xmlns:a="http://schemas.openxmlformats.org/drawingml/2006/main">
              <a:ext uri="{FF2B5EF4-FFF2-40B4-BE49-F238E27FC236}">
                <a16:creationId xmlns:a16="http://schemas.microsoft.com/office/drawing/2014/main" id="{FA566A15-D871-441F-98DC-C0CBFE11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0025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B5F5"/>
          </a:solidFill>
          <a:ln xmlns:a="http://schemas.openxmlformats.org/drawingml/2006/main" w="19050">
            <a:solidFill>
              <a:srgbClr val="207CA3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5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5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D</a:t>
            </a:r>
          </a:p>
        </p:txBody>
      </p:sp>
      <p:sp>
        <p:nvSpPr>
          <p:cNvPr id="6" name="do-body">
            <a:extLst xmlns:a="http://schemas.openxmlformats.org/drawingml/2006/main">
              <a:ext uri="{FF2B5EF4-FFF2-40B4-BE49-F238E27FC236}">
                <a16:creationId xmlns:a16="http://schemas.microsoft.com/office/drawing/2014/main" id="{7A4F2078-0017-497B-AEE1-3165927E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05250"/>
            <a:ext cx="266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Do｜実行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調査・加工・作成</a:t>
            </a:r>
          </a:p>
        </p:txBody>
      </p:sp>
      <p:sp>
        <p:nvSpPr>
          <p:cNvPr id="7" name="check-letter">
            <a:extLst xmlns:a="http://schemas.openxmlformats.org/drawingml/2006/main">
              <a:ext uri="{FF2B5EF4-FFF2-40B4-BE49-F238E27FC236}">
                <a16:creationId xmlns:a16="http://schemas.microsoft.com/office/drawing/2014/main" id="{AC7C54DD-729D-4ABA-8336-254CDE9F2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0025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B5F5"/>
          </a:solidFill>
          <a:ln xmlns:a="http://schemas.openxmlformats.org/drawingml/2006/main" w="19050">
            <a:solidFill>
              <a:srgbClr val="207CA3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5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5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C</a:t>
            </a:r>
          </a:p>
        </p:txBody>
      </p:sp>
      <p:sp>
        <p:nvSpPr>
          <p:cNvPr id="8" name="check-body">
            <a:extLst xmlns:a="http://schemas.openxmlformats.org/drawingml/2006/main">
              <a:ext uri="{FF2B5EF4-FFF2-40B4-BE49-F238E27FC236}">
                <a16:creationId xmlns:a16="http://schemas.microsoft.com/office/drawing/2014/main" id="{06ACAA8D-09DD-4B70-A6C8-5F2F846D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905250"/>
            <a:ext cx="266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Check｜確認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比較・検証・課題検出</a:t>
            </a:r>
          </a:p>
        </p:txBody>
      </p:sp>
      <p:sp>
        <p:nvSpPr>
          <p:cNvPr id="9" name="ai-dc-role">
            <a:extLst xmlns:a="http://schemas.openxmlformats.org/drawingml/2006/main">
              <a:ext uri="{FF2B5EF4-FFF2-40B4-BE49-F238E27FC236}">
                <a16:creationId xmlns:a16="http://schemas.microsoft.com/office/drawing/2014/main" id="{0446E3F3-3299-4F02-9687-7E91C4F8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95500"/>
            <a:ext cx="3714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09550" tIns="152400" rIns="209550" bIns="1524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>
                <a:latin typeface="游ゴシック"/>
                <a:ea typeface="游ゴシック"/>
                <a:cs typeface="游ゴシック"/>
              </a:defRPr>
            </a:pPr>
            <a:r>
              <a:rPr sz="202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AI様の担当</a:t>
            </a:r>
          </a:p>
          <a:p xmlns:a="http://schemas.openxmlformats.org/drawingml/2006/main">
            <a:pPr>
              <a:buNone/>
              <a:defRPr>
                <a:latin typeface="游ゴシック"/>
                <a:ea typeface="游ゴシック"/>
                <a:cs typeface="游ゴシック"/>
              </a:defRPr>
            </a:pPr>
            <a:r>
              <a:rPr sz="165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速く作る
何度も比べる
見落とし候補を探す</a:t>
            </a:r>
          </a:p>
        </p:txBody>
      </p:sp>
      <p:sp>
        <p:nvSpPr>
          <p:cNvPr id="10" name="dc-caution">
            <a:extLst xmlns:a="http://schemas.openxmlformats.org/drawingml/2006/main">
              <a:ext uri="{FF2B5EF4-FFF2-40B4-BE49-F238E27FC236}">
                <a16:creationId xmlns:a16="http://schemas.microsoft.com/office/drawing/2014/main" id="{513F83C8-F619-4E57-A7F7-7D1DD0F07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191125"/>
            <a:ext cx="7429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725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rPr>
              <a:t>最終確認と責任までAIへ渡すわけではない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PlanとActにセンスが光る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何を良しとするか決め、違和感から基準を更新するのは人間。</a:t>
            </a:r>
          </a:p>
        </p:txBody>
      </p:sp>
      <p:sp>
        <p:nvSpPr>
          <p:cNvPr id="5" name="plan-letter">
            <a:extLst xmlns:a="http://schemas.openxmlformats.org/drawingml/2006/main">
              <a:ext uri="{FF2B5EF4-FFF2-40B4-BE49-F238E27FC236}">
                <a16:creationId xmlns:a16="http://schemas.microsoft.com/office/drawing/2014/main" id="{2DBE7F09-0FA9-4903-8E44-E2577905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00025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C54"/>
          </a:solidFill>
          <a:ln xmlns:a="http://schemas.openxmlformats.org/drawingml/2006/main" w="19050">
            <a:solidFill>
              <a:srgbClr val="002C54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5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5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P</a:t>
            </a:r>
          </a:p>
        </p:txBody>
      </p:sp>
      <p:sp>
        <p:nvSpPr>
          <p:cNvPr id="6" name="plan-body">
            <a:extLst xmlns:a="http://schemas.openxmlformats.org/drawingml/2006/main">
              <a:ext uri="{FF2B5EF4-FFF2-40B4-BE49-F238E27FC236}">
                <a16:creationId xmlns:a16="http://schemas.microsoft.com/office/drawing/2014/main" id="{A2AE07F1-3FCD-4ED1-9BB9-F6821BB53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9052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Plan｜計画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問いと良し悪しを決める</a:t>
            </a:r>
          </a:p>
        </p:txBody>
      </p:sp>
      <p:sp>
        <p:nvSpPr>
          <p:cNvPr id="7" name="act-letter">
            <a:extLst xmlns:a="http://schemas.openxmlformats.org/drawingml/2006/main">
              <a:ext uri="{FF2B5EF4-FFF2-40B4-BE49-F238E27FC236}">
                <a16:creationId xmlns:a16="http://schemas.microsoft.com/office/drawing/2014/main" id="{16285C26-E5C1-4F79-91C4-7C60AC60D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0025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C54"/>
          </a:solidFill>
          <a:ln xmlns:a="http://schemas.openxmlformats.org/drawingml/2006/main" w="19050">
            <a:solidFill>
              <a:srgbClr val="002C54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5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5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A</a:t>
            </a:r>
          </a:p>
        </p:txBody>
      </p:sp>
      <p:sp>
        <p:nvSpPr>
          <p:cNvPr id="8" name="act-body">
            <a:extLst xmlns:a="http://schemas.openxmlformats.org/drawingml/2006/main">
              <a:ext uri="{FF2B5EF4-FFF2-40B4-BE49-F238E27FC236}">
                <a16:creationId xmlns:a16="http://schemas.microsoft.com/office/drawing/2014/main" id="{95E19214-6A3B-47F8-9637-B47EF216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905250"/>
            <a:ext cx="266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Act｜改善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違和感から基準を更新</a:t>
            </a:r>
          </a:p>
        </p:txBody>
      </p:sp>
      <p:sp>
        <p:nvSpPr>
          <p:cNvPr id="9" name="human-pa-role">
            <a:extLst xmlns:a="http://schemas.openxmlformats.org/drawingml/2006/main">
              <a:ext uri="{FF2B5EF4-FFF2-40B4-BE49-F238E27FC236}">
                <a16:creationId xmlns:a16="http://schemas.microsoft.com/office/drawing/2014/main" id="{6D51BCA9-9F92-4883-BA9B-B593DA14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95500"/>
            <a:ext cx="3714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09550" tIns="152400" rIns="209550" bIns="1524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>
                <a:latin typeface="游ゴシック"/>
                <a:ea typeface="游ゴシック"/>
                <a:cs typeface="游ゴシック"/>
              </a:defRPr>
            </a:pPr>
            <a:r>
              <a:rPr sz="202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人間の担当</a:t>
            </a:r>
          </a:p>
          <a:p xmlns:a="http://schemas.openxmlformats.org/drawingml/2006/main">
            <a:pPr>
              <a:buNone/>
              <a:defRPr>
                <a:latin typeface="游ゴシック"/>
                <a:ea typeface="游ゴシック"/>
                <a:cs typeface="游ゴシック"/>
              </a:defRPr>
            </a:pPr>
            <a:r>
              <a:rPr sz="1650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何を解くか問う
何を良しとするか決める
経験から次の基準をつくる</a:t>
            </a:r>
          </a:p>
        </p:txBody>
      </p:sp>
      <p:sp>
        <p:nvSpPr>
          <p:cNvPr id="10" name="pa-differentiator">
            <a:extLst xmlns:a="http://schemas.openxmlformats.org/drawingml/2006/main">
              <a:ext uri="{FF2B5EF4-FFF2-40B4-BE49-F238E27FC236}">
                <a16:creationId xmlns:a16="http://schemas.microsoft.com/office/drawing/2014/main" id="{D3BEC4CD-88AC-4D21-BAFF-DA2945617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191125"/>
            <a:ext cx="685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025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rPr>
              <a:t>PとAの質が、会社の差別化になる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ChatGPTと壁打ちして言葉にする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違和感や判断を対話で掘り、AIと仲間が使える知識として残す。</a:t>
            </a:r>
          </a:p>
        </p:txBody>
      </p:sp>
      <p:sp>
        <p:nvSpPr>
          <p:cNvPr id="5" name="chatgpt-arrow-0">
            <a:extLst xmlns:a="http://schemas.openxmlformats.org/drawingml/2006/main">
              <a:ext uri="{FF2B5EF4-FFF2-40B4-BE49-F238E27FC236}">
                <a16:creationId xmlns:a16="http://schemas.microsoft.com/office/drawing/2014/main" id="{B703E819-1476-4E5C-8264-AA276780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048000"/>
            <a:ext cx="42862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CB5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hatgpt-arrow-1">
            <a:extLst xmlns:a="http://schemas.openxmlformats.org/drawingml/2006/main">
              <a:ext uri="{FF2B5EF4-FFF2-40B4-BE49-F238E27FC236}">
                <a16:creationId xmlns:a16="http://schemas.microsoft.com/office/drawing/2014/main" id="{704CC2AB-0DFB-423E-9277-ABB9EE6B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048000"/>
            <a:ext cx="42862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CB5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hatgpt-arrow-2">
            <a:extLst xmlns:a="http://schemas.openxmlformats.org/drawingml/2006/main">
              <a:ext uri="{FF2B5EF4-FFF2-40B4-BE49-F238E27FC236}">
                <a16:creationId xmlns:a16="http://schemas.microsoft.com/office/drawing/2014/main" id="{95E1A590-454B-4411-9610-9FEEA34A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48000"/>
            <a:ext cx="42862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CB5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hatgpt-arrow-3">
            <a:extLst xmlns:a="http://schemas.openxmlformats.org/drawingml/2006/main">
              <a:ext uri="{FF2B5EF4-FFF2-40B4-BE49-F238E27FC236}">
                <a16:creationId xmlns:a16="http://schemas.microsoft.com/office/drawing/2014/main" id="{6967275B-396D-46ED-92C1-A106AF9F9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048000"/>
            <a:ext cx="42862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CB5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hatgpt-node-0">
            <a:extLst xmlns:a="http://schemas.openxmlformats.org/drawingml/2006/main">
              <a:ext uri="{FF2B5EF4-FFF2-40B4-BE49-F238E27FC236}">
                <a16:creationId xmlns:a16="http://schemas.microsoft.com/office/drawing/2014/main" id="{EB2292A5-0D81-43FF-8724-04E7B7355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33625"/>
            <a:ext cx="190500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AF6FB"/>
          </a:solidFill>
          <a:ln xmlns:a="http://schemas.openxmlformats.org/drawingml/2006/main" w="19050">
            <a:solidFill>
              <a:srgbClr val="4CB5F5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違和感・判断</a:t>
            </a:r>
          </a:p>
        </p:txBody>
      </p:sp>
      <p:sp>
        <p:nvSpPr>
          <p:cNvPr id="10" name="chatgpt-node-1">
            <a:extLst xmlns:a="http://schemas.openxmlformats.org/drawingml/2006/main">
              <a:ext uri="{FF2B5EF4-FFF2-40B4-BE49-F238E27FC236}">
                <a16:creationId xmlns:a16="http://schemas.microsoft.com/office/drawing/2014/main" id="{FA2FC8D0-2728-4D47-AC4F-6686CA66F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333625"/>
            <a:ext cx="190500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002C54"/>
          </a:solidFill>
          <a:ln xmlns:a="http://schemas.openxmlformats.org/drawingml/2006/main" w="19050">
            <a:solidFill>
              <a:srgbClr val="002C54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ChatGPTに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壁打ち</a:t>
            </a:r>
          </a:p>
        </p:txBody>
      </p:sp>
      <p:sp>
        <p:nvSpPr>
          <p:cNvPr id="11" name="chatgpt-node-2">
            <a:extLst xmlns:a="http://schemas.openxmlformats.org/drawingml/2006/main">
              <a:ext uri="{FF2B5EF4-FFF2-40B4-BE49-F238E27FC236}">
                <a16:creationId xmlns:a16="http://schemas.microsoft.com/office/drawing/2014/main" id="{043FB9DC-6C80-4126-899C-692C6008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33625"/>
            <a:ext cx="190500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AF6FB"/>
          </a:solidFill>
          <a:ln xmlns:a="http://schemas.openxmlformats.org/drawingml/2006/main" w="19050">
            <a:solidFill>
              <a:srgbClr val="4CB5F5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理由を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言葉にする</a:t>
            </a:r>
          </a:p>
        </p:txBody>
      </p:sp>
      <p:sp>
        <p:nvSpPr>
          <p:cNvPr id="12" name="chatgpt-node-3">
            <a:extLst xmlns:a="http://schemas.openxmlformats.org/drawingml/2006/main">
              <a:ext uri="{FF2B5EF4-FFF2-40B4-BE49-F238E27FC236}">
                <a16:creationId xmlns:a16="http://schemas.microsoft.com/office/drawing/2014/main" id="{E2386856-FB65-4F5F-9CE3-FB98A899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333625"/>
            <a:ext cx="190500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002C54"/>
          </a:solidFill>
          <a:ln xmlns:a="http://schemas.openxmlformats.org/drawingml/2006/main" w="19050">
            <a:solidFill>
              <a:srgbClr val="002C54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Second Brainへ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残す</a:t>
            </a:r>
          </a:p>
        </p:txBody>
      </p:sp>
      <p:sp>
        <p:nvSpPr>
          <p:cNvPr id="13" name="chatgpt-node-4">
            <a:extLst xmlns:a="http://schemas.openxmlformats.org/drawingml/2006/main">
              <a:ext uri="{FF2B5EF4-FFF2-40B4-BE49-F238E27FC236}">
                <a16:creationId xmlns:a16="http://schemas.microsoft.com/office/drawing/2014/main" id="{0A5A3701-9A2B-4CE3-ABCE-86870A2A8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33625"/>
            <a:ext cx="190500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002C54"/>
          </a:solidFill>
          <a:ln xmlns:a="http://schemas.openxmlformats.org/drawingml/2006/main" w="19050">
            <a:solidFill>
              <a:srgbClr val="002C54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AIと仲間が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再利用</a:t>
            </a:r>
          </a:p>
        </p:txBody>
      </p:sp>
      <p:sp>
        <p:nvSpPr>
          <p:cNvPr id="14" name="voice-chat-callout">
            <a:extLst xmlns:a="http://schemas.openxmlformats.org/drawingml/2006/main">
              <a:ext uri="{FF2B5EF4-FFF2-40B4-BE49-F238E27FC236}">
                <a16:creationId xmlns:a16="http://schemas.microsoft.com/office/drawing/2014/main" id="{DE3268B3-046C-40A8-9C92-D7797846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72000"/>
            <a:ext cx="6477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CE5957"/>
          </a:solidFill>
          <a:ln xmlns:a="http://schemas.openxmlformats.org/drawingml/2006/main" w="9525">
            <a:solidFill>
              <a:srgbClr val="CE5957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1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音声会話もけっこういいよ！</a:t>
            </a:r>
          </a:p>
        </p:txBody>
      </p:sp>
      <p:sp>
        <p:nvSpPr>
          <p:cNvPr id="15" name="voice-chat-caption">
            <a:extLst xmlns:a="http://schemas.openxmlformats.org/drawingml/2006/main">
              <a:ext uri="{FF2B5EF4-FFF2-40B4-BE49-F238E27FC236}">
                <a16:creationId xmlns:a16="http://schemas.microsoft.com/office/drawing/2014/main" id="{34EE91C2-225E-4DA2-935C-4D368140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429250"/>
            <a:ext cx="704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話すと、曖昧だった感覚をほぐして言葉にしやすい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探求を、会社の循環にする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磨いたセンスを言語化し、AIと仲間へ渡して、また探求する。</a:t>
            </a:r>
          </a:p>
        </p:txBody>
      </p:sp>
      <p:sp>
        <p:nvSpPr>
          <p:cNvPr id="5" name="cycle-arrow-0">
            <a:extLst xmlns:a="http://schemas.openxmlformats.org/drawingml/2006/main">
              <a:ext uri="{FF2B5EF4-FFF2-40B4-BE49-F238E27FC236}">
                <a16:creationId xmlns:a16="http://schemas.microsoft.com/office/drawing/2014/main" id="{F6582FA0-5595-4583-94FE-297D94402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143125"/>
            <a:ext cx="80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4CB5F5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3300" b="1">
                <a:solidFill>
                  <a:srgbClr val="4CB5F5"/>
                </a:solidFill>
                <a:latin typeface="游ゴシック"/>
                <a:ea typeface="游ゴシック"/>
                <a:cs typeface="游ゴシック"/>
              </a:rPr>
              <a:t>→</a:t>
            </a:r>
          </a:p>
        </p:txBody>
      </p:sp>
      <p:sp>
        <p:nvSpPr>
          <p:cNvPr id="6" name="cycle-arrow-1">
            <a:extLst xmlns:a="http://schemas.openxmlformats.org/drawingml/2006/main">
              <a:ext uri="{FF2B5EF4-FFF2-40B4-BE49-F238E27FC236}">
                <a16:creationId xmlns:a16="http://schemas.microsoft.com/office/drawing/2014/main" id="{4797A2E5-E9EE-4E40-8455-A21CDF2A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714750"/>
            <a:ext cx="80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4CB5F5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3300" b="1">
                <a:solidFill>
                  <a:srgbClr val="4CB5F5"/>
                </a:solidFill>
                <a:latin typeface="游ゴシック"/>
                <a:ea typeface="游ゴシック"/>
                <a:cs typeface="游ゴシック"/>
              </a:rPr>
              <a:t>↓</a:t>
            </a:r>
          </a:p>
        </p:txBody>
      </p:sp>
      <p:sp>
        <p:nvSpPr>
          <p:cNvPr id="7" name="cycle-arrow-2">
            <a:extLst xmlns:a="http://schemas.openxmlformats.org/drawingml/2006/main">
              <a:ext uri="{FF2B5EF4-FFF2-40B4-BE49-F238E27FC236}">
                <a16:creationId xmlns:a16="http://schemas.microsoft.com/office/drawing/2014/main" id="{D005EFB6-30B7-474C-80D2-2F77AD531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667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4CB5F5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3300" b="1">
                <a:solidFill>
                  <a:srgbClr val="4CB5F5"/>
                </a:solidFill>
                <a:latin typeface="游ゴシック"/>
                <a:ea typeface="游ゴシック"/>
                <a:cs typeface="游ゴシック"/>
              </a:rPr>
              <a:t>←</a:t>
            </a:r>
          </a:p>
        </p:txBody>
      </p:sp>
      <p:sp>
        <p:nvSpPr>
          <p:cNvPr id="8" name="cycle-arrow-3">
            <a:extLst xmlns:a="http://schemas.openxmlformats.org/drawingml/2006/main">
              <a:ext uri="{FF2B5EF4-FFF2-40B4-BE49-F238E27FC236}">
                <a16:creationId xmlns:a16="http://schemas.microsoft.com/office/drawing/2014/main" id="{A1DB42A4-7FD9-4F99-9A4B-677638415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14750"/>
            <a:ext cx="80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4CB5F5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3300" b="1">
                <a:solidFill>
                  <a:srgbClr val="4CB5F5"/>
                </a:solidFill>
                <a:latin typeface="游ゴシック"/>
                <a:ea typeface="游ゴシック"/>
                <a:cs typeface="游ゴシック"/>
              </a:rPr>
              <a:t>↑</a:t>
            </a:r>
          </a:p>
        </p:txBody>
      </p:sp>
      <p:sp>
        <p:nvSpPr>
          <p:cNvPr id="9" name="cycle-arrow-4">
            <a:extLst xmlns:a="http://schemas.openxmlformats.org/drawingml/2006/main">
              <a:ext uri="{FF2B5EF4-FFF2-40B4-BE49-F238E27FC236}">
                <a16:creationId xmlns:a16="http://schemas.microsoft.com/office/drawing/2014/main" id="{D79AAF8A-D037-4F1F-AC0E-D107BDBA5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43125"/>
            <a:ext cx="80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4CB5F5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3300" b="1">
                <a:solidFill>
                  <a:srgbClr val="4CB5F5"/>
                </a:solidFill>
                <a:latin typeface="游ゴシック"/>
                <a:ea typeface="游ゴシック"/>
                <a:cs typeface="游ゴシック"/>
              </a:rPr>
              <a:t>↗</a:t>
            </a:r>
          </a:p>
        </p:txBody>
      </p:sp>
      <p:sp>
        <p:nvSpPr>
          <p:cNvPr id="10" name="contribute-0">
            <a:extLst xmlns:a="http://schemas.openxmlformats.org/drawingml/2006/main">
              <a:ext uri="{FF2B5EF4-FFF2-40B4-BE49-F238E27FC236}">
                <a16:creationId xmlns:a16="http://schemas.microsoft.com/office/drawing/2014/main" id="{8B34B2CA-73E0-477E-A696-F163A37A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19250"/>
            <a:ext cx="2476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C54"/>
          </a:solidFill>
          <a:ln xmlns:a="http://schemas.openxmlformats.org/drawingml/2006/main" w="19050">
            <a:solidFill>
              <a:srgbClr val="002C54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探求する</a:t>
            </a:r>
          </a:p>
        </p:txBody>
      </p:sp>
      <p:sp>
        <p:nvSpPr>
          <p:cNvPr id="11" name="contribute-1">
            <a:extLst xmlns:a="http://schemas.openxmlformats.org/drawingml/2006/main">
              <a:ext uri="{FF2B5EF4-FFF2-40B4-BE49-F238E27FC236}">
                <a16:creationId xmlns:a16="http://schemas.microsoft.com/office/drawing/2014/main" id="{2FDEDB84-7FB0-47FD-9FFA-3D67348EE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14625"/>
            <a:ext cx="2571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6FB"/>
          </a:solidFill>
          <a:ln xmlns:a="http://schemas.openxmlformats.org/drawingml/2006/main" w="19050">
            <a:solidFill>
              <a:srgbClr val="4CB5F5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センスを磨く</a:t>
            </a:r>
          </a:p>
        </p:txBody>
      </p:sp>
      <p:sp>
        <p:nvSpPr>
          <p:cNvPr id="12" name="contribute-2">
            <a:extLst xmlns:a="http://schemas.openxmlformats.org/drawingml/2006/main">
              <a:ext uri="{FF2B5EF4-FFF2-40B4-BE49-F238E27FC236}">
                <a16:creationId xmlns:a16="http://schemas.microsoft.com/office/drawing/2014/main" id="{A8DB5CCC-59B1-4D7D-962E-5F6C2EB6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476750"/>
            <a:ext cx="2571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6FB"/>
          </a:solidFill>
          <a:ln xmlns:a="http://schemas.openxmlformats.org/drawingml/2006/main" w="19050">
            <a:solidFill>
              <a:srgbClr val="4CB5F5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言語化する</a:t>
            </a:r>
          </a:p>
        </p:txBody>
      </p:sp>
      <p:sp>
        <p:nvSpPr>
          <p:cNvPr id="13" name="contribute-3">
            <a:extLst xmlns:a="http://schemas.openxmlformats.org/drawingml/2006/main">
              <a:ext uri="{FF2B5EF4-FFF2-40B4-BE49-F238E27FC236}">
                <a16:creationId xmlns:a16="http://schemas.microsoft.com/office/drawing/2014/main" id="{FD47E7AB-6929-43E0-8A2C-F7BC8CB92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476750"/>
            <a:ext cx="2571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2C54"/>
          </a:solidFill>
          <a:ln xmlns:a="http://schemas.openxmlformats.org/drawingml/2006/main" w="19050">
            <a:solidFill>
              <a:srgbClr val="002C54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会社に残す</a:t>
            </a:r>
          </a:p>
        </p:txBody>
      </p:sp>
      <p:sp>
        <p:nvSpPr>
          <p:cNvPr id="14" name="contribute-4">
            <a:extLst xmlns:a="http://schemas.openxmlformats.org/drawingml/2006/main">
              <a:ext uri="{FF2B5EF4-FFF2-40B4-BE49-F238E27FC236}">
                <a16:creationId xmlns:a16="http://schemas.microsoft.com/office/drawing/2014/main" id="{9A339BF5-7DBC-4C43-98AC-80A85F8FB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14625"/>
            <a:ext cx="2571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6FB"/>
          </a:solidFill>
          <a:ln xmlns:a="http://schemas.openxmlformats.org/drawingml/2006/main" w="19050">
            <a:solidFill>
              <a:srgbClr val="4CB5F5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AIと仲間が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80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再利用する</a:t>
            </a:r>
          </a:p>
        </p:txBody>
      </p:sp>
      <p:sp>
        <p:nvSpPr>
          <p:cNvPr id="15" name="contribute-center">
            <a:extLst xmlns:a="http://schemas.openxmlformats.org/drawingml/2006/main">
              <a:ext uri="{FF2B5EF4-FFF2-40B4-BE49-F238E27FC236}">
                <a16:creationId xmlns:a16="http://schemas.microsoft.com/office/drawing/2014/main" id="{E0C259CC-E539-4A72-937B-9B864E143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43250"/>
            <a:ext cx="266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100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rPr>
              <a:t>学びを</a:t>
            </a:r>
          </a:p>
          <a:p xmlns:a="http://schemas.openxmlformats.org/drawingml/2006/main">
            <a:pPr algn="ctr">
              <a:buNone/>
              <a:defRPr sz="2100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2100" b="1">
                <a:solidFill>
                  <a:srgbClr val="CE5957"/>
                </a:solidFill>
                <a:latin typeface="游ゴシック"/>
                <a:ea typeface="游ゴシック"/>
                <a:cs typeface="游ゴシック"/>
              </a:rPr>
              <a:t>会社の資産へ</a:t>
            </a:r>
          </a:p>
        </p:txBody>
      </p:sp>
      <p:sp>
        <p:nvSpPr>
          <p:cNvPr id="16" name="contribute-caption">
            <a:extLst xmlns:a="http://schemas.openxmlformats.org/drawingml/2006/main">
              <a:ext uri="{FF2B5EF4-FFF2-40B4-BE49-F238E27FC236}">
                <a16:creationId xmlns:a16="http://schemas.microsoft.com/office/drawing/2014/main" id="{4DC094B8-7DF4-4A68-AF1E-A673309EF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572125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650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成果物だけでなく、次の探求に使える情報まで残す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一次情報源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暗黙知・熟練・生成AIの学習に関する一次情報。</a:t>
            </a:r>
          </a:p>
        </p:txBody>
      </p:sp>
      <p:sp>
        <p:nvSpPr>
          <p:cNvPr id="5" name="source-polanyi">
            <a:extLst xmlns:a="http://schemas.openxmlformats.org/drawingml/2006/main">
              <a:ext uri="{FF2B5EF4-FFF2-40B4-BE49-F238E27FC236}">
                <a16:creationId xmlns:a16="http://schemas.microsoft.com/office/drawing/2014/main" id="{1F1698B5-F762-4FB5-B605-986266E5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725" b="1">
                <a:solidFill>
                  <a:srgbClr val="002C54"/>
                </a:solidFill>
              </a:rPr>
              <a:t>Michael Polanyi｜The Tacit Dimension
</a:t>
            </a:r>
            <a:r>
              <a:rPr sz="1613" u="sng">
                <a:solidFill>
                  <a:srgbClr val="207CA3"/>
                </a:solidFill>
                <a:hlinkClick xmlns:r="http://schemas.openxmlformats.org/officeDocument/2006/relationships" r:id="Ra0528469b4aa4734"/>
              </a:rPr>
              <a:t>https://press.uchicago.edu/ucp/books/book/chicago/T/bo6035368.html</a:t>
            </a:r>
          </a:p>
        </p:txBody>
      </p:sp>
      <p:sp>
        <p:nvSpPr>
          <p:cNvPr id="6" name="source-kahneman">
            <a:extLst xmlns:a="http://schemas.openxmlformats.org/drawingml/2006/main">
              <a:ext uri="{FF2B5EF4-FFF2-40B4-BE49-F238E27FC236}">
                <a16:creationId xmlns:a16="http://schemas.microsoft.com/office/drawing/2014/main" id="{DF5B9AB9-901A-487A-B949-19DEFFD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725" b="1">
                <a:solidFill>
                  <a:srgbClr val="002C54"/>
                </a:solidFill>
              </a:rPr>
              <a:t>Kahneman &amp; Klein (2009)｜Conditions for intuitive expertise
</a:t>
            </a:r>
            <a:r>
              <a:rPr sz="1613" u="sng">
                <a:solidFill>
                  <a:srgbClr val="207CA3"/>
                </a:solidFill>
                <a:hlinkClick xmlns:r="http://schemas.openxmlformats.org/officeDocument/2006/relationships" r:id="Rb59cd0d656e0411b"/>
              </a:rPr>
              <a:t>https://pubmed.ncbi.nlm.nih.gov/19739881/</a:t>
            </a:r>
          </a:p>
        </p:txBody>
      </p:sp>
      <p:sp>
        <p:nvSpPr>
          <p:cNvPr id="7" name="source-gpt4">
            <a:extLst xmlns:a="http://schemas.openxmlformats.org/drawingml/2006/main">
              <a:ext uri="{FF2B5EF4-FFF2-40B4-BE49-F238E27FC236}">
                <a16:creationId xmlns:a16="http://schemas.microsoft.com/office/drawing/2014/main" id="{D2334DF4-D2F7-4B9F-9D20-ABDB1C41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43375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725" b="1">
                <a:solidFill>
                  <a:srgbClr val="002C54"/>
                </a:solidFill>
              </a:rPr>
              <a:t>OpenAI (2023)｜GPT-4 Technical Report
</a:t>
            </a:r>
            <a:r>
              <a:rPr sz="1613" u="sng">
                <a:solidFill>
                  <a:srgbClr val="207CA3"/>
                </a:solidFill>
                <a:hlinkClick xmlns:r="http://schemas.openxmlformats.org/officeDocument/2006/relationships" r:id="R16a9f5c2541c4b5d"/>
              </a:rPr>
              <a:t>https://arxiv.org/abs/2303.08774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5386CD39-55B8-B28A-0D62-14C7B839A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構成・画像の出典</a:t>
            </a:r>
          </a:p>
        </p:txBody>
      </p:sp>
      <p:sp>
        <p:nvSpPr>
          <p:cNvPr id="3" name="スライド番号プレースホルダー 2">
            <a:extLst xmlns:a="http://schemas.openxmlformats.org/drawingml/2006/main">
              <a:ext uri="{FF2B5EF4-FFF2-40B4-BE49-F238E27FC236}">
                <a16:creationId xmlns:a16="http://schemas.microsoft.com/office/drawing/2014/main" id="{3BEFFFDD-FCC9-D8C8-B65D-FD1496218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4" name="テキスト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43C20B8F-57B8-DF6D-02C6-2494E3EAA67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共有会話、本人からの修正指示、生成済み・提供・既存画像を使用。</a:t>
            </a:r>
          </a:p>
        </p:txBody>
      </p:sp>
      <p:sp>
        <p:nvSpPr>
          <p:cNvPr id="5" name="source-share">
            <a:extLst xmlns:a="http://schemas.openxmlformats.org/drawingml/2006/main">
              <a:ext uri="{FF2B5EF4-FFF2-40B4-BE49-F238E27FC236}">
                <a16:creationId xmlns:a16="http://schemas.microsoft.com/office/drawing/2014/main" id="{5DB0D03D-D37E-46BA-B6E7-5D62D68E1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725" b="1">
                <a:solidFill>
                  <a:srgbClr val="002C54"/>
                </a:solidFill>
              </a:rPr>
              <a:t>構成元｜共有ChatGPT会話
</a:t>
            </a:r>
            <a:r>
              <a:rPr sz="1500" u="sng">
                <a:solidFill>
                  <a:srgbClr val="207CA3"/>
                </a:solidFill>
                <a:hlinkClick xmlns:r="http://schemas.openxmlformats.org/officeDocument/2006/relationships" r:id="Rdc37717659f64315"/>
              </a:rPr>
              <a:t>https://chatgpt.com/share/e/6a9250c4-a114-800d-a4e5-cddfec75de1d</a:t>
            </a:r>
          </a:p>
        </p:txBody>
      </p:sp>
      <p:sp>
        <p:nvSpPr>
          <p:cNvPr id="6" name="source-undraw-novice">
            <a:extLst xmlns:a="http://schemas.openxmlformats.org/drawingml/2006/main">
              <a:ext uri="{FF2B5EF4-FFF2-40B4-BE49-F238E27FC236}">
                <a16:creationId xmlns:a16="http://schemas.microsoft.com/office/drawing/2014/main" id="{66437CC2-2EEF-4444-91C8-602CCD22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28875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725" b="1">
                <a:solidFill>
                  <a:srgbClr val="002C54"/>
                </a:solidFill>
              </a:rPr>
              <a:t>スライド9｜unDraw Online learning
</a:t>
            </a:r>
            <a:r>
              <a:rPr sz="1500" u="sng">
                <a:solidFill>
                  <a:srgbClr val="207CA3"/>
                </a:solidFill>
                <a:hlinkClick xmlns:r="http://schemas.openxmlformats.org/officeDocument/2006/relationships" r:id="Rdc560f7eb51d4519"/>
              </a:rPr>
              <a:t>https://undraw.co/illustration/online-learning_tgmv</a:t>
            </a:r>
          </a:p>
        </p:txBody>
      </p:sp>
      <p:sp>
        <p:nvSpPr>
          <p:cNvPr id="7" name="source-undraw-expert">
            <a:extLst xmlns:a="http://schemas.openxmlformats.org/drawingml/2006/main">
              <a:ext uri="{FF2B5EF4-FFF2-40B4-BE49-F238E27FC236}">
                <a16:creationId xmlns:a16="http://schemas.microsoft.com/office/drawing/2014/main" id="{852849B7-A32E-4A6D-8D01-1A4BFA31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212121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725" b="1">
                <a:solidFill>
                  <a:srgbClr val="002C54"/>
                </a:solidFill>
              </a:rPr>
              <a:t>スライド9｜unDraw File Analysis
</a:t>
            </a:r>
            <a:r>
              <a:rPr sz="1500" u="sng">
                <a:solidFill>
                  <a:srgbClr val="207CA3"/>
                </a:solidFill>
                <a:hlinkClick xmlns:r="http://schemas.openxmlformats.org/officeDocument/2006/relationships" r:id="R7de9720e0ba84058"/>
              </a:rPr>
              <a:t>https://undraw.co/illustration/file-analysis_nbtc</a:t>
            </a:r>
          </a:p>
        </p:txBody>
      </p:sp>
      <p:sp>
        <p:nvSpPr>
          <p:cNvPr id="8" name="source-generated">
            <a:extLst xmlns:a="http://schemas.openxmlformats.org/drawingml/2006/main">
              <a:ext uri="{FF2B5EF4-FFF2-40B4-BE49-F238E27FC236}">
                <a16:creationId xmlns:a16="http://schemas.microsoft.com/office/drawing/2014/main" id="{4EF6FECD-D78B-4ED8-92E7-0B1C0C25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38625"/>
            <a:ext cx="1028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5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スライド3・4・10｜本資料で使用している生成済み画像</a:t>
            </a:r>
          </a:p>
        </p:txBody>
      </p:sp>
      <p:sp>
        <p:nvSpPr>
          <p:cNvPr id="9" name="source-provided">
            <a:extLst xmlns:a="http://schemas.openxmlformats.org/drawingml/2006/main">
              <a:ext uri="{FF2B5EF4-FFF2-40B4-BE49-F238E27FC236}">
                <a16:creationId xmlns:a16="http://schemas.microsoft.com/office/drawing/2014/main" id="{9E9FCBF7-91B4-4FA4-8C92-81B4DD02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1028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575" b="1">
                <a:solidFill>
                  <a:srgbClr val="002C54"/>
                </a:solidFill>
                <a:latin typeface="游ゴシック"/>
                <a:ea typeface="游ゴシック"/>
                <a:cs typeface="游ゴシック"/>
              </a:rPr>
              <a:t>スライド11・12｜本人提供画像</a:t>
            </a:r>
          </a:p>
        </p:txBody>
      </p:sp>
      <p:sp>
        <p:nvSpPr>
          <p:cNvPr id="10" name="source-direction">
            <a:extLst xmlns:a="http://schemas.openxmlformats.org/drawingml/2006/main">
              <a:ext uri="{FF2B5EF4-FFF2-40B4-BE49-F238E27FC236}">
                <a16:creationId xmlns:a16="http://schemas.microsoft.com/office/drawing/2014/main" id="{C0970963-16CF-4A29-9E48-F09E79FE1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86375"/>
            <a:ext cx="1028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B6770"/>
                </a:solidFill>
                <a:latin typeface="游ゴシック"/>
                <a:ea typeface="游ゴシック"/>
                <a:cs typeface="游ゴシック"/>
              </a:defRPr>
            </a:pPr>
            <a:r>
              <a:rPr sz="1500">
                <a:solidFill>
                  <a:srgbClr val="5B6770"/>
                </a:solidFill>
                <a:latin typeface="游ゴシック"/>
                <a:ea typeface="游ゴシック"/>
                <a:cs typeface="游ゴシック"/>
              </a:rPr>
              <a:t>市川解釈｜本人からの修正指示（2026-08-30）</a:t>
            </a:r>
          </a:p>
        </p:txBody>
      </p:sp>
    </p:spTree>
    <p:extLst>
      <p:ext uri="{BB962C8B-B14F-4D97-AF65-F5344CB8AC3E}">
        <p14:creationId xmlns:p14="http://schemas.microsoft.com/office/powerpoint/2010/main" val="37222576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 1">
            <a:extLst xmlns:a="http://schemas.openxmlformats.org/drawingml/2006/main">
              <a:ext uri="{FF2B5EF4-FFF2-40B4-BE49-F238E27FC236}">
                <a16:creationId xmlns:a16="http://schemas.microsoft.com/office/drawing/2014/main" id="{0999AE3E-0AE7-A10F-E639-E819CEBFDA3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AIにできる仕事は渡そう</a:t>
            </a:r>
          </a:p>
        </p:txBody>
      </p:sp>
      <p:sp>
        <p:nvSpPr>
          <p:cNvPr id="3" name="字幕 2">
            <a:extLst xmlns:a="http://schemas.openxmlformats.org/drawingml/2006/main">
              <a:ext uri="{FF2B5EF4-FFF2-40B4-BE49-F238E27FC236}">
                <a16:creationId xmlns:a16="http://schemas.microsoft.com/office/drawing/2014/main" id="{4AB36C70-C7B1-D5DF-9E2A-DFCB49F0B55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そのぶん、人間は判断し、学び、基準をつくり、人を動かそう。</a:t>
            </a:r>
            <a:endParaRPr/>
          </a:p>
        </p:txBody>
      </p:sp>
      <p:sp>
        <p:nvSpPr>
          <p:cNvPr id="4" name="フッター プレースホルダー 3">
            <a:extLst xmlns:a="http://schemas.openxmlformats.org/drawingml/2006/main">
              <a:ext uri="{FF2B5EF4-FFF2-40B4-BE49-F238E27FC236}">
                <a16:creationId xmlns:a16="http://schemas.microsoft.com/office/drawing/2014/main" id="{79BB8244-D01A-DE0F-559B-BA51461BD42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  <a:buNone/>
            </a:pPr>
            <a:r>
              <a:rPr>
                <a:latin typeface="Futura Medium"/>
                <a:ea typeface="Futura Medium"/>
                <a:cs typeface="Futura Medium"/>
              </a:rPr>
              <a:t>© Beyond Next Ventures, Inc.</a:t>
            </a:r>
          </a:p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EED8952-6ED2-467D-B195-56C57B819D1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20884620"/>
      </p:ext>
    </p:extLst>
  </p:cSld>
</p:sld>
</file>

<file path=ppt/theme/theme1.xml><?xml version="1.0" encoding="utf-8"?>
<a:theme xmlns:a="http://schemas.openxmlformats.org/drawingml/2006/main" name="Office テーマ">
  <a:themeElements>
    <a:clrScheme name="Beyond01">
      <a:dk1>
        <a:srgbClr val="212121"/>
      </a:dk1>
      <a:lt1>
        <a:srgbClr val="FFFFFF"/>
      </a:lt1>
      <a:dk2>
        <a:srgbClr val="000000"/>
      </a:dk2>
      <a:lt2>
        <a:srgbClr val="EEEEEE"/>
      </a:lt2>
      <a:accent1>
        <a:srgbClr val="002C54"/>
      </a:accent1>
      <a:accent2>
        <a:srgbClr val="207CA3"/>
      </a:accent2>
      <a:accent3>
        <a:srgbClr val="4CB5F5"/>
      </a:accent3>
      <a:accent4>
        <a:srgbClr val="EFB509"/>
      </a:accent4>
      <a:accent5>
        <a:srgbClr val="488A99"/>
      </a:accent5>
      <a:accent6>
        <a:srgbClr val="CE5957"/>
      </a:accent6>
      <a:hlink>
        <a:srgbClr val="7980FF"/>
      </a:hlink>
      <a:folHlink>
        <a:srgbClr val="7980FF"/>
      </a:folHlink>
    </a:clrScheme>
    <a:fontScheme name="ユーザー定義 2">
      <a:majorFont>
        <a:latin typeface="游ゴシック"/>
        <a:ea typeface="游ゴシック"/>
        <a:cs typeface="游ゴシック"/>
      </a:majorFont>
      <a:minorFont>
        <a:latin typeface="游ゴシック"/>
        <a:ea typeface="游ゴシック"/>
        <a:cs typeface=""/>
      </a:minorFont>
    </a:fontScheme>
    <a:fmtScheme name="Beyond0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2026-09-04T01:10:26.4160000Z</dcterms:created>
  <dcterms:modified xsi:type="dcterms:W3CDTF">2026-09-04T01:10:26.4160000Z</dcterms:modified>
</coreProperties>
</file>
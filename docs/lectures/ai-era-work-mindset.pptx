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c41eceb2654818" /><Relationship Type="http://schemas.openxmlformats.org/officeDocument/2006/relationships/extended-properties" Target="/docProps/app.xml" Id="Re1f0b1a81f584675" /><Relationship Type="http://schemas.openxmlformats.org/officeDocument/2006/relationships/officeDocument" Target="/ppt/presentation.xml" Id="R8fc4c9bb570245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5adc83d0a44606"/>
  </p:sldMasterIdLst>
  <p:notesMasterIdLst>
    <p:notesMasterId xmlns:r="http://schemas.openxmlformats.org/officeDocument/2006/relationships" r:id="Rb64a1d36840f476e"/>
  </p:notesMasterIdLst>
  <p:sldIdLst>
    <p:sldId xmlns:r="http://schemas.openxmlformats.org/officeDocument/2006/relationships" id="256" r:id="R126db7f8f8d64a4d"/>
    <p:sldId xmlns:r="http://schemas.openxmlformats.org/officeDocument/2006/relationships" id="257" r:id="Rd75fd68591924047"/>
    <p:sldId xmlns:r="http://schemas.openxmlformats.org/officeDocument/2006/relationships" id="258" r:id="R5fb61df318494ace"/>
    <p:sldId xmlns:r="http://schemas.openxmlformats.org/officeDocument/2006/relationships" id="259" r:id="R0019c6da71134e6d"/>
    <p:sldId xmlns:r="http://schemas.openxmlformats.org/officeDocument/2006/relationships" id="260" r:id="R59b840f33acd4f49"/>
    <p:sldId xmlns:r="http://schemas.openxmlformats.org/officeDocument/2006/relationships" id="261" r:id="R08bfad763df34dd2"/>
    <p:sldId xmlns:r="http://schemas.openxmlformats.org/officeDocument/2006/relationships" id="262" r:id="Rde1e1269d46c4d04"/>
    <p:sldId xmlns:r="http://schemas.openxmlformats.org/officeDocument/2006/relationships" id="263" r:id="R96de05dc73494bbc"/>
    <p:sldId xmlns:r="http://schemas.openxmlformats.org/officeDocument/2006/relationships" id="264" r:id="R110bd0ec0fb142ee"/>
    <p:sldId xmlns:r="http://schemas.openxmlformats.org/officeDocument/2006/relationships" id="265" r:id="R072c0a5cd0b8439d"/>
    <p:sldId xmlns:r="http://schemas.openxmlformats.org/officeDocument/2006/relationships" id="266" r:id="R75ae12cf661a495c"/>
    <p:sldId xmlns:r="http://schemas.openxmlformats.org/officeDocument/2006/relationships" id="267" r:id="Ra55ad4098b3b40b4"/>
    <p:sldId xmlns:r="http://schemas.openxmlformats.org/officeDocument/2006/relationships" id="268" r:id="R7f4fe3bcbb64438c"/>
    <p:sldId xmlns:r="http://schemas.openxmlformats.org/officeDocument/2006/relationships" id="269" r:id="R66462ed5c7f54cad"/>
    <p:sldId xmlns:r="http://schemas.openxmlformats.org/officeDocument/2006/relationships" id="270" r:id="Rf1e858b5b9634051"/>
    <p:sldId xmlns:r="http://schemas.openxmlformats.org/officeDocument/2006/relationships" id="271" r:id="R3a567da69d304108"/>
    <p:sldId xmlns:r="http://schemas.openxmlformats.org/officeDocument/2006/relationships" id="272" r:id="R4127041a4f434291"/>
    <p:sldId xmlns:r="http://schemas.openxmlformats.org/officeDocument/2006/relationships" id="273" r:id="Re6705baddd3445a2"/>
    <p:sldId xmlns:r="http://schemas.openxmlformats.org/officeDocument/2006/relationships" id="274" r:id="Rc6420a65b2f04aea"/>
    <p:sldId xmlns:r="http://schemas.openxmlformats.org/officeDocument/2006/relationships" id="275" r:id="R6ed52b9cdd3e4176"/>
    <p:sldId xmlns:r="http://schemas.openxmlformats.org/officeDocument/2006/relationships" id="276" r:id="R2288b34c972444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98435d2c214c57" /><Relationship Type="http://schemas.openxmlformats.org/officeDocument/2006/relationships/slideMaster" Target="/ppt/slideMasters/slideMaster1.xml" Id="R935adc83d0a44606" /><Relationship Type="http://schemas.openxmlformats.org/officeDocument/2006/relationships/notesMaster" Target="/ppt/notesMasters/notesMaster1.xml" Id="Rb64a1d36840f476e" /><Relationship Type="http://schemas.openxmlformats.org/officeDocument/2006/relationships/presProps" Target="/ppt/presProps.xml" Id="Rdfd5428b81214893" /><Relationship Type="http://schemas.openxmlformats.org/officeDocument/2006/relationships/viewProps" Target="/ppt/viewProps.xml" Id="Rdfa19878c00c4465" /><Relationship Type="http://schemas.openxmlformats.org/officeDocument/2006/relationships/tableStyles" Target="/ppt/tableStyles.xml" Id="Ra1afb05098304b67" /><Relationship Type="http://schemas.openxmlformats.org/officeDocument/2006/relationships/slide" Target="/ppt/slides/slide1.xml" Id="R126db7f8f8d64a4d" /><Relationship Type="http://schemas.openxmlformats.org/officeDocument/2006/relationships/slide" Target="/ppt/slides/slide2.xml" Id="Rd75fd68591924047" /><Relationship Type="http://schemas.openxmlformats.org/officeDocument/2006/relationships/slide" Target="/ppt/slides/slide3.xml" Id="R5fb61df318494ace" /><Relationship Type="http://schemas.openxmlformats.org/officeDocument/2006/relationships/slide" Target="/ppt/slides/slide4.xml" Id="R0019c6da71134e6d" /><Relationship Type="http://schemas.openxmlformats.org/officeDocument/2006/relationships/slide" Target="/ppt/slides/slide5.xml" Id="R59b840f33acd4f49" /><Relationship Type="http://schemas.openxmlformats.org/officeDocument/2006/relationships/slide" Target="/ppt/slides/slide6.xml" Id="R08bfad763df34dd2" /><Relationship Type="http://schemas.openxmlformats.org/officeDocument/2006/relationships/slide" Target="/ppt/slides/slide7.xml" Id="Rde1e1269d46c4d04" /><Relationship Type="http://schemas.openxmlformats.org/officeDocument/2006/relationships/slide" Target="/ppt/slides/slide8.xml" Id="R96de05dc73494bbc" /><Relationship Type="http://schemas.openxmlformats.org/officeDocument/2006/relationships/slide" Target="/ppt/slides/slide9.xml" Id="R110bd0ec0fb142ee" /><Relationship Type="http://schemas.openxmlformats.org/officeDocument/2006/relationships/slide" Target="/ppt/slides/slide10.xml" Id="R072c0a5cd0b8439d" /><Relationship Type="http://schemas.openxmlformats.org/officeDocument/2006/relationships/slide" Target="/ppt/slides/slide11.xml" Id="R75ae12cf661a495c" /><Relationship Type="http://schemas.openxmlformats.org/officeDocument/2006/relationships/slide" Target="/ppt/slides/slide12.xml" Id="Ra55ad4098b3b40b4" /><Relationship Type="http://schemas.openxmlformats.org/officeDocument/2006/relationships/slide" Target="/ppt/slides/slide13.xml" Id="R7f4fe3bcbb64438c" /><Relationship Type="http://schemas.openxmlformats.org/officeDocument/2006/relationships/slide" Target="/ppt/slides/slide14.xml" Id="R66462ed5c7f54cad" /><Relationship Type="http://schemas.openxmlformats.org/officeDocument/2006/relationships/slide" Target="/ppt/slides/slide15.xml" Id="Rf1e858b5b9634051" /><Relationship Type="http://schemas.openxmlformats.org/officeDocument/2006/relationships/slide" Target="/ppt/slides/slide16.xml" Id="R3a567da69d304108" /><Relationship Type="http://schemas.openxmlformats.org/officeDocument/2006/relationships/slide" Target="/ppt/slides/slide17.xml" Id="R4127041a4f434291" /><Relationship Type="http://schemas.openxmlformats.org/officeDocument/2006/relationships/slide" Target="/ppt/slides/slide18.xml" Id="Re6705baddd3445a2" /><Relationship Type="http://schemas.openxmlformats.org/officeDocument/2006/relationships/slide" Target="/ppt/slides/slide19.xml" Id="Rc6420a65b2f04aea" /><Relationship Type="http://schemas.openxmlformats.org/officeDocument/2006/relationships/slide" Target="/ppt/slides/slide20.xml" Id="R6ed52b9cdd3e4176" /><Relationship Type="http://schemas.openxmlformats.org/officeDocument/2006/relationships/slide" Target="/ppt/slides/slide21.xml" Id="R2288b34c972444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40bde3df064e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テーマ">
  <a:themeElements>
    <a:clrScheme name="Beyond01">
      <a:dk1>
        <a:srgbClr val="212121"/>
      </a:dk1>
      <a:lt1>
        <a:srgbClr val="FFFFFF"/>
      </a:lt1>
      <a:dk2>
        <a:srgbClr val="000000"/>
      </a:dk2>
      <a:lt2>
        <a:srgbClr val="EEEEEE"/>
      </a:lt2>
      <a:accent1>
        <a:srgbClr val="002C54"/>
      </a:accent1>
      <a:accent2>
        <a:srgbClr val="207CA3"/>
      </a:accent2>
      <a:accent3>
        <a:srgbClr val="4CB5F5"/>
      </a:accent3>
      <a:accent4>
        <a:srgbClr val="EFB509"/>
      </a:accent4>
      <a:accent5>
        <a:srgbClr val="488A99"/>
      </a:accent5>
      <a:accent6>
        <a:srgbClr val="CE5957"/>
      </a:accent6>
      <a:hlink>
        <a:srgbClr val="7980FF"/>
      </a:hlink>
      <a:folHlink>
        <a:srgbClr val="7980FF"/>
      </a:folHlink>
    </a:clrScheme>
    <a:fontScheme name="ユーザー定義 2">
      <a:majorFont>
        <a:latin typeface="游ゴシック"/>
        <a:ea typeface="游ゴシック"/>
        <a:cs typeface="游ゴシック"/>
      </a:majorFont>
      <a:minorFont>
        <a:latin typeface="游ゴシック"/>
        <a:ea typeface="游ゴシック"/>
        <a:cs typeface=""/>
      </a:minorFont>
    </a:fontScheme>
    <a:fmtScheme name="Beyond0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b9b73937034910" /><Relationship Type="http://schemas.openxmlformats.org/officeDocument/2006/relationships/notesMaster" Target="/ppt/notesMasters/notesMaster1.xml" Id="R855a36dbd8ab4f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2ad91bc0514be7" /><Relationship Type="http://schemas.openxmlformats.org/officeDocument/2006/relationships/notesMaster" Target="/ppt/notesMasters/notesMaster1.xml" Id="Rf8a9fe9e21ca4a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c153e866d9443f" /><Relationship Type="http://schemas.openxmlformats.org/officeDocument/2006/relationships/notesMaster" Target="/ppt/notesMasters/notesMaster1.xml" Id="R620582b4ea1947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00202a45614d57" /><Relationship Type="http://schemas.openxmlformats.org/officeDocument/2006/relationships/notesMaster" Target="/ppt/notesMasters/notesMaster1.xml" Id="R2b9c5577b5934e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4ff72c31ca47c6" /><Relationship Type="http://schemas.openxmlformats.org/officeDocument/2006/relationships/notesMaster" Target="/ppt/notesMasters/notesMaster1.xml" Id="Rd173bc01a6a74e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c0cdb778e84741" /><Relationship Type="http://schemas.openxmlformats.org/officeDocument/2006/relationships/notesMaster" Target="/ppt/notesMasters/notesMaster1.xml" Id="R995911c0193d44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3811b05d38429c" /><Relationship Type="http://schemas.openxmlformats.org/officeDocument/2006/relationships/notesMaster" Target="/ppt/notesMasters/notesMaster1.xml" Id="R22041174026c4c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ab408b32144898" /><Relationship Type="http://schemas.openxmlformats.org/officeDocument/2006/relationships/notesMaster" Target="/ppt/notesMasters/notesMaster1.xml" Id="Rb3174f46d60649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d1389ffddb43a4" /><Relationship Type="http://schemas.openxmlformats.org/officeDocument/2006/relationships/notesMaster" Target="/ppt/notesMasters/notesMaster1.xml" Id="R22d15b95e8ed45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92e1283d2a48ba" /><Relationship Type="http://schemas.openxmlformats.org/officeDocument/2006/relationships/notesMaster" Target="/ppt/notesMasters/notesMaster1.xml" Id="Rab3827956def44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621e7743234c45" /><Relationship Type="http://schemas.openxmlformats.org/officeDocument/2006/relationships/notesMaster" Target="/ppt/notesMasters/notesMaster1.xml" Id="R663df78b6f2649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9537918db2d49d4" /><Relationship Type="http://schemas.openxmlformats.org/officeDocument/2006/relationships/notesMaster" Target="/ppt/notesMasters/notesMaster1.xml" Id="Rd4ad18513b0a4fe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90aeb006ccf4dd9" /><Relationship Type="http://schemas.openxmlformats.org/officeDocument/2006/relationships/notesMaster" Target="/ppt/notesMasters/notesMaster1.xml" Id="Rcc49aa1abc0d443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01a9b7b77d14dd3" /><Relationship Type="http://schemas.openxmlformats.org/officeDocument/2006/relationships/notesMaster" Target="/ppt/notesMasters/notesMaster1.xml" Id="R52d00cd061d24a4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bd19dbaf2834ca9" /><Relationship Type="http://schemas.openxmlformats.org/officeDocument/2006/relationships/notesMaster" Target="/ppt/notesMasters/notesMaster1.xml" Id="Rc18f5ccffaf64dd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905e66b335443c6" /><Relationship Type="http://schemas.openxmlformats.org/officeDocument/2006/relationships/notesMaster" Target="/ppt/notesMasters/notesMaster1.xml" Id="Rda6726c601cb414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4d9c6533a634688" /><Relationship Type="http://schemas.openxmlformats.org/officeDocument/2006/relationships/notesMaster" Target="/ppt/notesMasters/notesMaster1.xml" Id="Rcd2fe5620a6f408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d55faa2ee264072" /><Relationship Type="http://schemas.openxmlformats.org/officeDocument/2006/relationships/notesMaster" Target="/ppt/notesMasters/notesMaster1.xml" Id="Rf6b0400851e045e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1ebb6b228624c6e" /><Relationship Type="http://schemas.openxmlformats.org/officeDocument/2006/relationships/notesMaster" Target="/ppt/notesMasters/notesMaster1.xml" Id="R4478d1e2108b405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16b1be60e854363" /><Relationship Type="http://schemas.openxmlformats.org/officeDocument/2006/relationships/notesMaster" Target="/ppt/notesMasters/notesMaster1.xml" Id="Rce4c5e98430f4bc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db7353a7b534bc3" /><Relationship Type="http://schemas.openxmlformats.org/officeDocument/2006/relationships/notesMaster" Target="/ppt/notesMasters/notesMaster1.xml" Id="R2ad25565788141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https://chatgpt.com/share/e/6a9250c4-a114-800d-a4e5-cddfec75de1d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共有会話と本人からの修正指示を基礎に、一次情報と市川解釈を区別して構成。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https://chatgpt.com/share/e/6a9250c4-a114-800d-a4e5-cddfec75de1d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共有会話と本人からの修正指示を基礎に、一次情報と市川解釈を区別して構成。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generated: OpenAI ImageGen, supporting illustration created for this deck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画像は本資料用にOpenAI ImageGenで生成。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generated: OpenAI ImageGen, supporting illustration created for this deck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画像は本資料用にOpenAI ImageGenで生成。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https://chatgpt.com/share/e/6a9250c4-a114-800d-a4e5-cddfec75de1d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共有会話と本人からの修正指示を基礎に、一次情報と市川解釈を区別して構成。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https://press.uchicago.edu/ucp/books/book/chicago/T/bo6035368.html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共有会話と本人からの修正指示を基礎に、一次情報と市川解釈を区別して構成。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https://chatgpt.com/share/e/6a9250c4-a114-800d-a4e5-cddfec75de1d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本人からの修正指示に基づく問いかけページ。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https://arxiv.org/abs/2303.08774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共有会話と本人からの修正指示を基礎に、一次情報と市川解釈を区別して構成。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https://undraw.co/illustration/online-learning_tgmv</a:t>
            </a:r>
          </a:p>
          <a:p xmlns:a="http://schemas.openxmlformats.org/drawingml/2006/main">
            <a:r>
              <a:t>- https://undraw.co/illustration/file-analysis_nbtc</a:t>
            </a:r>
          </a:p>
          <a:p xmlns:a="http://schemas.openxmlformats.org/drawingml/2006/main">
            <a:r>
              <a:t>- https://undraw.co/license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人物イラストはunDrawの既存素材。画像生成は行っていない。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https://chatgpt.com/share/e/6a9250c4-a114-800d-a4e5-cddfec75de1d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画像は共有ChatGPT会話で生成された『暗黙知奉納式、AI様へ捧ぐセンス』。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C:/Users/Tomohiro Ichikawa/Downloads/AI様に納品しない風刺絵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本人提供の風刺絵と本人指定の原因を掲載。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C:/Users/Tomohiro Ichikawa/Downloads/AI様とPDCA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画像は本人提供の『AI様とPDCA』。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https://chatgpt.com/share/e/6a9250c4-a114-800d-a4e5-cddfec75de1d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共有会話と本人からの修正指示を基礎に、一次情報と市川解釈を区別して構成。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https://chatgpt.com/share/e/6a9250c4-a114-800d-a4e5-cddfec75de1d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共有会話と本人からの修正指示を基礎に、一次情報と市川解釈を区別して構成。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本人からの修正指示（2026-08-30）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ChatGPTとの壁打ちと音声会話は本人提案として掲載。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https://chatgpt.com/share/e/6a9250c4-a114-800d-a4e5-cddfec75de1d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共有会話と本人からの修正指示を基礎に、一次情報と市川解釈を区別して構成。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本人からのハンズオン要件（2026-09-04）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本人からのハンズオン要件（2026-09-04）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https://press.uchicago.edu/ucp/books/book/chicago/T/bo6035368.html</a:t>
            </a:r>
          </a:p>
          <a:p xmlns:a="http://schemas.openxmlformats.org/drawingml/2006/main">
            <a:r>
              <a:t>- https://pubmed.ncbi.nlm.nih.gov/19739881/</a:t>
            </a:r>
          </a:p>
          <a:p xmlns:a="http://schemas.openxmlformats.org/drawingml/2006/main">
            <a:r>
              <a:t>- https://arxiv.org/abs/2303.08774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共有会話と本人からの修正指示を基礎に、一次情報と市川解釈を区別して構成。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https://chatgpt.com/share/e/6a9250c4-a114-800d-a4e5-cddfec75de1d</a:t>
            </a:r>
          </a:p>
          <a:p xmlns:a="http://schemas.openxmlformats.org/drawingml/2006/main">
            <a:r>
              <a:t>- https://undraw.co/illustration/online-learning_tgmv</a:t>
            </a:r>
          </a:p>
          <a:p xmlns:a="http://schemas.openxmlformats.org/drawingml/2006/main">
            <a:r>
              <a:t>- https://undraw.co/illustration/file-analysis_nbtc</a:t>
            </a:r>
          </a:p>
          <a:p xmlns:a="http://schemas.openxmlformats.org/drawingml/2006/main">
            <a:r>
              <a:t>- https://undraw.co/license</a:t>
            </a:r>
          </a:p>
          <a:p xmlns:a="http://schemas.openxmlformats.org/drawingml/2006/main">
            <a:r>
              <a:t>- user-provided images: AI様に納品しない風刺絵 / AI様とPDCA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画像生成は追加していない。unDrawの既存素材2点と本人提供画像を追加。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本人からのハンズオン要件（2026-09-04）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e3bfde1acc406e" /><Relationship Type="http://schemas.openxmlformats.org/officeDocument/2006/relationships/image" Target="/ppt/media/image.jpeg" Id="R58cc96ded1264a44" /><Relationship Type="http://schemas.openxmlformats.org/officeDocument/2006/relationships/image" Target="/ppt/media/image2.jpeg" Id="R314a6bb8458d4a69" /><Relationship Type="http://schemas.openxmlformats.org/officeDocument/2006/relationships/image" Target="/ppt/media/image.png" Id="Ra014b10390644d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bd11d35134469a" /><Relationship Type="http://schemas.openxmlformats.org/officeDocument/2006/relationships/image" Target="/ppt/media/image2.png" Id="Ra58eb85137d24f3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e70ced33004d3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1e03a1c40c4fd7" /><Relationship Type="http://schemas.openxmlformats.org/officeDocument/2006/relationships/image" Target="/ppt/media/image.jpeg" Id="R1f0fe196e4aa4fd9" /><Relationship Type="http://schemas.openxmlformats.org/officeDocument/2006/relationships/image" Target="/ppt/media/image2.jpeg" Id="R5de99c308f144ec9" /><Relationship Type="http://schemas.openxmlformats.org/officeDocument/2006/relationships/image" Target="/ppt/media/image3.png" Id="R2a37b7fb28374d4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7926f1477d4443" /><Relationship Type="http://schemas.openxmlformats.org/officeDocument/2006/relationships/image" Target="/ppt/media/image.jpeg" Id="R557af12b8fcb4367" /><Relationship Type="http://schemas.openxmlformats.org/officeDocument/2006/relationships/image" Target="/ppt/media/image2.jpeg" Id="Ra1df9827fb044c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39dc84f1454924" /><Relationship Type="http://schemas.openxmlformats.org/officeDocument/2006/relationships/image" Target="/ppt/media/image4.png" Id="Rd4d4b4fb83ba4417" /><Relationship Type="http://schemas.openxmlformats.org/officeDocument/2006/relationships/image" Target="/ppt/media/image3.jpeg" Id="Re882d3e169204fd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02e68f610b42ab" /><Relationship Type="http://schemas.openxmlformats.org/officeDocument/2006/relationships/image" Target="/ppt/media/image4.jpeg" Id="R1590f22f87904633" /><Relationship Type="http://schemas.openxmlformats.org/officeDocument/2006/relationships/image" Target="/ppt/media/image5.jpeg" Id="Rf98c35eddcac4d68" /><Relationship Type="http://schemas.openxmlformats.org/officeDocument/2006/relationships/image" Target="/ppt/media/image3.png" Id="Rf24cffecd7a8420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7ca027d09042e6" /><Relationship Type="http://schemas.openxmlformats.org/officeDocument/2006/relationships/image" Target="/ppt/media/image6.jpeg" Id="Ra1760b2ddc034e3f" /></Relationships>
</file>

<file path=ppt/slideLayouts/slideLayout1.xml><?xml version="1.0" encoding="utf-8"?>
<p:sldLayout xmlns:p="http://schemas.openxmlformats.org/presentationml/2006/main" type="title" preserve="1">
  <p:cSld name="表紙">
    <p:bg>
      <p:bgPr>
        <a:blipFill xmlns:a="http://schemas.openxmlformats.org/drawingml/2006/main" rotWithShape="1">
          <a:blip xmlns:r="http://schemas.openxmlformats.org/officeDocument/2006/relationships" r:embed="R58cc96ded1264a4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4a6bb8458d4a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DA80AF-EBB7-4570-AF2A-6C6DB1CB3C70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3428999"/>
            <a:ext cx="5091953" cy="1143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4500" b="1" i="0" spc="600">
                <a:solidFill>
                  <a:schemeClr val="bg1"/>
                </a:solidFill>
                <a:latin typeface="Futura PT Bold"/>
                <a:ea typeface="Futura PT Bold"/>
                <a:cs typeface="Futura PT Bold"/>
              </a:defRPr>
            </a:lvl1pPr>
          </a:lstStyle>
          <a:p xmlns:a="http://schemas.openxmlformats.org/drawingml/2006/main">
            <a:r>
              <a:t>PRESENTATION TITLE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D4C83F1-F971-42F1-8C50-EB92BD3265C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4964083"/>
            <a:ext cx="9144000" cy="4007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 algn="l">
              <a:buNone/>
              <a:defRPr sz="2400" b="0" i="0" spc="600" baseline="0">
                <a:solidFill>
                  <a:srgbClr val="BFDCCF"/>
                </a:solidFill>
                <a:latin typeface="BIZ UDPゴシック"/>
                <a:ea typeface="BIZ UDPゴシック"/>
                <a:cs typeface="BIZ UDPゴシック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SUBTITLE (OPTIONAL)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1AEFB50-2F6B-4E9E-9107-9AC16EC711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 rot="16200000">
            <a:off x="9548331" y="3651023"/>
            <a:ext cx="3412830" cy="2000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algn="l">
              <a:buNone/>
              <a:defRPr sz="900" spc="300">
                <a:solidFill>
                  <a:schemeClr val="bg1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 xmlns:a="http://schemas.openxmlformats.org/drawingml/2006/main">
            <a:pPr>
              <a:spcBef>
                <a:spcPts val="600"/>
              </a:spcBef>
              <a:buNone/>
            </a:pPr>
            <a:r>
              <a:t>@ Beyond Next Ventures, Inc.</a:t>
            </a:r>
            <a:endParaRPr/>
          </a:p>
        </p:txBody>
      </p:sp>
      <p:pic>
        <p:nvPicPr>
          <p:cNvPr id="1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4b10390644d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6784" y="-29335"/>
            <a:ext cx="3267814" cy="2310199"/>
          </a:xfrm>
          <a:prstGeom xmlns:a="http://schemas.openxmlformats.org/drawingml/2006/main" prst="rect">
            <a:avLst/>
          </a:prstGeom>
        </p:spPr>
      </p:pic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AB4C9BCE-080E-4B35-8225-803B79F2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1278" y="5614038"/>
            <a:ext cx="200026" cy="2000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0C0F689-20D2-4166-BBFE-61F4194A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998" y="662043"/>
            <a:ext cx="2256467" cy="315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BFDCCF"/>
              </a:solidFill>
            </a:endParaRPr>
          </a:p>
        </p:txBody>
      </p:sp>
      <p:sp>
        <p:nvSpPr>
          <p:cNvPr id="10" name="Subtitle 2">
            <a:extLst xmlns:a="http://schemas.openxmlformats.org/drawingml/2006/main">
              <a:ext uri="{FF2B5EF4-FFF2-40B4-BE49-F238E27FC236}">
                <a16:creationId xmlns:a16="http://schemas.microsoft.com/office/drawing/2014/main" id="{371F7F74-045F-4587-BA4A-9E241669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529" y="719932"/>
            <a:ext cx="2470781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spc="600">
                <a:solidFill>
                  <a:schemeClr val="bg1"/>
                </a:solidFill>
                <a:latin typeface="Futura Medium"/>
                <a:ea typeface="Futura Medium"/>
                <a:cs typeface="Futura Medium"/>
              </a:rPr>
              <a:t>•CONFIDENTIAL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406E5B8-BB1F-4314-8664-0BE162D4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612" y="-658906"/>
            <a:ext cx="1847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コンテンツ1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タイトル 4">
            <a:extLst xmlns:a="http://schemas.openxmlformats.org/drawingml/2006/main">
              <a:ext uri="{FF2B5EF4-FFF2-40B4-BE49-F238E27FC236}">
                <a16:creationId xmlns:a16="http://schemas.microsoft.com/office/drawing/2014/main" id="{B2D537BC-CAD2-9B9F-85C3-DEECD73936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5DA3AA1-27D8-9ED4-7D86-F3EA9DD57B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6379" y="6377564"/>
            <a:ext cx="324000" cy="3382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bIns="72000"/>
          <a:lstStyle xmlns:a="http://schemas.openxmlformats.org/drawingml/2006/main">
            <a:lvl1pPr>
              <a:buNone/>
              <a:defRPr sz="1000" b="0" i="0">
                <a:solidFill>
                  <a:schemeClr val="bg1"/>
                </a:solidFill>
                <a:latin typeface="Futura PT Cond Book Italic"/>
                <a:ea typeface="Futura PT Cond Book Italic"/>
                <a:cs typeface="Futura PT Cond Book Italic"/>
              </a:defRPr>
            </a:lvl1pPr>
          </a:lstStyle>
          <a:p xmlns:a="http://schemas.openxmlformats.org/drawingml/2006/main">
            <a:fld id="{EA818FD4-2EA2-0248-8203-5C0A81512996}" type="slidenum">
              <a:t>‹#›</a:t>
            </a:fld>
            <a:endParaRPr/>
          </a:p>
        </p:txBody>
      </p:sp>
      <p:sp>
        <p:nvSpPr>
          <p:cNvPr id="14" name="直線コネクタ 13">
            <a:extLst xmlns:a="http://schemas.openxmlformats.org/drawingml/2006/main">
              <a:ext uri="{FF2B5EF4-FFF2-40B4-BE49-F238E27FC236}">
                <a16:creationId xmlns:a16="http://schemas.microsoft.com/office/drawing/2014/main" id="{C8C0193E-6C5B-4D84-B4C8-9820C93F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682" y="6596459"/>
            <a:ext cx="9288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Subtitle 2">
            <a:extLst xmlns:a="http://schemas.openxmlformats.org/drawingml/2006/main">
              <a:ext uri="{FF2B5EF4-FFF2-40B4-BE49-F238E27FC236}">
                <a16:creationId xmlns:a16="http://schemas.microsoft.com/office/drawing/2014/main" id="{B2B5362E-4E1D-0C99-BD06-9549F740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200" y="6546680"/>
            <a:ext cx="1592863" cy="11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800" spc="300">
                <a:solidFill>
                  <a:schemeClr val="bg1"/>
                </a:solidFill>
                <a:latin typeface="Futura Medium"/>
                <a:ea typeface="Futura Medium"/>
                <a:cs typeface="Futura Medium"/>
              </a:rPr>
              <a:t>•CONFIDENTIAL</a:t>
            </a:r>
          </a:p>
        </p:txBody>
      </p:sp>
      <p:sp>
        <p:nvSpPr>
          <p:cNvPr id="16" name="楕円 23">
            <a:extLst xmlns:a="http://schemas.openxmlformats.org/drawingml/2006/main">
              <a:ext uri="{FF2B5EF4-FFF2-40B4-BE49-F238E27FC236}">
                <a16:creationId xmlns:a16="http://schemas.microsoft.com/office/drawing/2014/main" id="{9AFB927A-E65F-EF26-EB8A-CD9A5139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82" y="6420910"/>
            <a:ext cx="324001" cy="3277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200"/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5B447B7B-4505-978A-515A-2C91D666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3084"/>
            <a:ext cx="12192000" cy="55765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2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8eb85137d24f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55542" y="-29335"/>
            <a:ext cx="1192618" cy="843128"/>
          </a:xfrm>
          <a:prstGeom xmlns:a="http://schemas.openxmlformats.org/drawingml/2006/main" prst="rect">
            <a:avLst/>
          </a:prstGeom>
        </p:spPr>
      </p:pic>
      <p:sp>
        <p:nvSpPr>
          <p:cNvPr id="6" name="テキスト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A869A035-1C2C-E120-D9C4-5745A2673DB8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558274" y="897464"/>
            <a:ext cx="11160124" cy="6156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500" spc="300"/>
            </a:lvl1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コンテンツ2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タイトル 4">
            <a:extLst xmlns:a="http://schemas.openxmlformats.org/drawingml/2006/main">
              <a:ext uri="{FF2B5EF4-FFF2-40B4-BE49-F238E27FC236}">
                <a16:creationId xmlns:a16="http://schemas.microsoft.com/office/drawing/2014/main" id="{B2D537BC-CAD2-9B9F-85C3-DEECD73936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5DA3AA1-27D8-9ED4-7D86-F3EA9DD57B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521682" y="6423109"/>
            <a:ext cx="324000" cy="3382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bIns="72000"/>
          <a:lstStyle xmlns:a="http://schemas.openxmlformats.org/drawingml/2006/main">
            <a:lvl1pPr>
              <a:buNone/>
              <a:defRPr sz="1000" b="0" i="0">
                <a:solidFill>
                  <a:schemeClr val="bg1"/>
                </a:solidFill>
                <a:latin typeface="Futura PT Cond Book Italic"/>
                <a:ea typeface="Futura PT Cond Book Italic"/>
                <a:cs typeface="Futura PT Cond Book Italic"/>
              </a:defRPr>
            </a:lvl1pPr>
          </a:lstStyle>
          <a:p xmlns:a="http://schemas.openxmlformats.org/drawingml/2006/main">
            <a:fld id="{EA818FD4-2EA2-0248-8203-5C0A81512996}" type="slidenum">
              <a:t>‹#›</a:t>
            </a:fld>
            <a:endParaRPr/>
          </a:p>
        </p:txBody>
      </p:sp>
      <p:sp>
        <p:nvSpPr>
          <p:cNvPr id="14" name="直線コネクタ 13">
            <a:extLst xmlns:a="http://schemas.openxmlformats.org/drawingml/2006/main">
              <a:ext uri="{FF2B5EF4-FFF2-40B4-BE49-F238E27FC236}">
                <a16:creationId xmlns:a16="http://schemas.microsoft.com/office/drawing/2014/main" id="{142810E2-423F-4B33-8CAE-CA4401C8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682" y="6596459"/>
            <a:ext cx="9288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Subtitle 2">
            <a:extLst xmlns:a="http://schemas.openxmlformats.org/drawingml/2006/main">
              <a:ext uri="{FF2B5EF4-FFF2-40B4-BE49-F238E27FC236}">
                <a16:creationId xmlns:a16="http://schemas.microsoft.com/office/drawing/2014/main" id="{B2B5362E-4E1D-0C99-BD06-9549F740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200" y="6546680"/>
            <a:ext cx="1592863" cy="11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800" spc="300">
                <a:solidFill>
                  <a:schemeClr val="bg1"/>
                </a:solidFill>
                <a:latin typeface="Futura Medium"/>
                <a:ea typeface="Futura Medium"/>
                <a:cs typeface="Futura Medium"/>
              </a:rPr>
              <a:t>•CONFIDENTIAL</a:t>
            </a:r>
          </a:p>
        </p:txBody>
      </p:sp>
      <p:sp>
        <p:nvSpPr>
          <p:cNvPr id="16" name="楕円 23">
            <a:extLst xmlns:a="http://schemas.openxmlformats.org/drawingml/2006/main">
              <a:ext uri="{FF2B5EF4-FFF2-40B4-BE49-F238E27FC236}">
                <a16:creationId xmlns:a16="http://schemas.microsoft.com/office/drawing/2014/main" id="{9AFB927A-E65F-EF26-EB8A-CD9A5139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82" y="6420910"/>
            <a:ext cx="324001" cy="3277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200"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背景1">
    <p:bg>
      <p:bgPr>
        <a:blipFill xmlns:a="http://schemas.openxmlformats.org/drawingml/2006/main" rotWithShape="1">
          <a:blip xmlns:r="http://schemas.openxmlformats.org/officeDocument/2006/relationships" r:embed="R1f0fe196e4aa4fd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e99c308f144e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B8CB08D1-F3B0-4C35-92BE-EF637806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1999" cy="6857999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00000">
                  <a:alpha val="25000"/>
                </a:srgbClr>
              </a:gs>
              <a:gs pos="100000">
                <a:srgbClr val="21285C">
                  <a:alpha val="75000"/>
                </a:srgbClr>
              </a:gs>
            </a:gsLst>
            <a:lin ang="189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Oval 11">
            <a:extLst xmlns:a="http://schemas.openxmlformats.org/drawingml/2006/main">
              <a:ext uri="{FF2B5EF4-FFF2-40B4-BE49-F238E27FC236}">
                <a16:creationId xmlns:a16="http://schemas.microsoft.com/office/drawing/2014/main" id="{36F17D76-37AD-4BBD-80B2-13D278DD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1278" y="5614038"/>
            <a:ext cx="200026" cy="2000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3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37b7fb28374d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2608" y="244308"/>
            <a:ext cx="1981645" cy="1400935"/>
          </a:xfrm>
          <a:prstGeom xmlns:a="http://schemas.openxmlformats.org/drawingml/2006/main" prst="rect">
            <a:avLst/>
          </a:prstGeom>
        </p:spPr>
      </p:pic>
      <p:sp>
        <p:nvSpPr>
          <p:cNvPr id="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5E32495-1F3C-EA7A-19F7-7EED12ECD8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 rot="16200000">
            <a:off x="9548331" y="3651023"/>
            <a:ext cx="3412830" cy="2000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algn="l">
              <a:buNone/>
              <a:defRPr sz="900" spc="3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spcBef>
                <a:spcPts val="600"/>
              </a:spcBef>
              <a:buNone/>
            </a:pPr>
            <a:r>
              <a:rPr>
                <a:latin typeface="Futura Medium"/>
                <a:ea typeface="Futura Medium"/>
                <a:cs typeface="Futura Medium"/>
              </a:rPr>
              <a:t>© Beyond Next Ventures, Inc.</a:t>
            </a:r>
          </a:p>
          <a:p xmlns:a="http://schemas.openxmlformats.org/drawingml/2006/main">
            <a:pPr>
              <a:spcBef>
                <a:spcPts val="600"/>
              </a:spcBef>
              <a:buNone/>
            </a:pPr>
            <a:endParaRPr>
              <a:latin typeface="Futura Medium"/>
              <a:ea typeface="Futura Medium"/>
              <a:cs typeface="Futura Medium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背景2">
    <p:bg>
      <p:bgPr>
        <a:blipFill xmlns:a="http://schemas.openxmlformats.org/drawingml/2006/main" rotWithShape="1">
          <a:blip xmlns:r="http://schemas.openxmlformats.org/officeDocument/2006/relationships" r:embed="R557af12b8fcb436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df9827fb044c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F01747FD-06C1-DE58-AEEB-8447DB69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1999" cy="6857999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00000">
                  <a:alpha val="25000"/>
                </a:srgbClr>
              </a:gs>
              <a:gs pos="100000">
                <a:srgbClr val="21285C">
                  <a:alpha val="75000"/>
                </a:srgbClr>
              </a:gs>
            </a:gsLst>
            <a:lin ang="189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背景3">
    <p:bg>
      <p:bgPr>
        <a:blipFill xmlns:a="http://schemas.openxmlformats.org/drawingml/2006/main" rotWithShape="1">
          <a:blip xmlns:r="http://schemas.openxmlformats.org/officeDocument/2006/relationships" r:embed="Rd4d4b4fb83ba441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82d3e169204f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F093824B-9F72-AF15-4C65-314E3612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3231"/>
            <a:ext cx="10109200" cy="5747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85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7480346-F18F-548A-FBA4-1D0167282C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521682" y="6423109"/>
            <a:ext cx="324000" cy="3382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bIns="72000"/>
          <a:lstStyle xmlns:a="http://schemas.openxmlformats.org/drawingml/2006/main">
            <a:lvl1pPr>
              <a:buNone/>
              <a:defRPr sz="1000" b="0" i="0">
                <a:solidFill>
                  <a:schemeClr val="bg1"/>
                </a:solidFill>
                <a:latin typeface="Futura PT Cond Book Italic"/>
                <a:ea typeface="Futura PT Cond Book Italic"/>
                <a:cs typeface="Futura PT Cond Book Italic"/>
              </a:defRPr>
            </a:lvl1pPr>
          </a:lstStyle>
          <a:p xmlns:a="http://schemas.openxmlformats.org/drawingml/2006/main">
            <a:fld id="{EA818FD4-2EA2-0248-8203-5C0A81512996}" type="slidenum">
              <a:t>‹#›</a:t>
            </a:fld>
            <a:endParaRPr/>
          </a:p>
        </p:txBody>
      </p:sp>
      <p:sp>
        <p:nvSpPr>
          <p:cNvPr id="7" name="直線コネクタ 6">
            <a:extLst xmlns:a="http://schemas.openxmlformats.org/drawingml/2006/main">
              <a:ext uri="{FF2B5EF4-FFF2-40B4-BE49-F238E27FC236}">
                <a16:creationId xmlns:a16="http://schemas.microsoft.com/office/drawing/2014/main" id="{A46D3082-39BB-4BCB-9CFB-24043BEC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682" y="6596459"/>
            <a:ext cx="763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ubtitle 2">
            <a:extLst xmlns:a="http://schemas.openxmlformats.org/drawingml/2006/main">
              <a:ext uri="{FF2B5EF4-FFF2-40B4-BE49-F238E27FC236}">
                <a16:creationId xmlns:a16="http://schemas.microsoft.com/office/drawing/2014/main" id="{96F42CD7-176B-0599-5D1D-5E0061B7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362" y="6546680"/>
            <a:ext cx="1592863" cy="11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800" spc="300">
                <a:solidFill>
                  <a:schemeClr val="bg1"/>
                </a:solidFill>
                <a:latin typeface="Futura Medium"/>
                <a:ea typeface="Futura Medium"/>
                <a:cs typeface="Futura Medium"/>
              </a:rPr>
              <a:t>•CONFIDENTIAL</a:t>
            </a:r>
          </a:p>
        </p:txBody>
      </p:sp>
      <p:sp>
        <p:nvSpPr>
          <p:cNvPr id="10" name="楕円 23">
            <a:extLst xmlns:a="http://schemas.openxmlformats.org/drawingml/2006/main">
              <a:ext uri="{FF2B5EF4-FFF2-40B4-BE49-F238E27FC236}">
                <a16:creationId xmlns:a16="http://schemas.microsoft.com/office/drawing/2014/main" id="{FBC98312-02F8-1DB4-087C-F4031106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82" y="6420910"/>
            <a:ext cx="324001" cy="3277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200"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見出し（水色）">
    <p:bg>
      <p:bgPr>
        <a:blipFill xmlns:a="http://schemas.openxmlformats.org/drawingml/2006/main" rotWithShape="1">
          <a:blip xmlns:r="http://schemas.openxmlformats.org/officeDocument/2006/relationships" r:embed="R1590f22f8790463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c35eddcac4d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870" y="0"/>
            <a:ext cx="3112008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5ED3DD0C-8A40-4C54-84A3-95347EBE776D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3487270" y="2839105"/>
            <a:ext cx="7634008" cy="1916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4500" b="1" i="0" spc="600">
                <a:solidFill>
                  <a:schemeClr val="bg1"/>
                </a:solidFill>
                <a:latin typeface="Futura PT Bold"/>
                <a:ea typeface="Futura PT Bold"/>
                <a:cs typeface="Futura PT Bold"/>
              </a:defRPr>
            </a:lvl1pPr>
          </a:lstStyle>
          <a:p xmlns:a="http://schemas.openxmlformats.org/drawingml/2006/main">
            <a:r>
              <a:t>INTRODUCTION</a:t>
            </a:r>
          </a:p>
        </p:txBody>
      </p:sp>
      <p:sp>
        <p:nvSpPr>
          <p:cNvPr id="9" name="Subtitle 2">
            <a:extLst xmlns:a="http://schemas.openxmlformats.org/drawingml/2006/main">
              <a:ext uri="{FF2B5EF4-FFF2-40B4-BE49-F238E27FC236}">
                <a16:creationId xmlns:a16="http://schemas.microsoft.com/office/drawing/2014/main" id="{D9B5E752-0E9C-4387-8F51-D4A4EB0970E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3487270" y="3554553"/>
            <a:ext cx="7634008" cy="6902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 algn="l">
              <a:buNone/>
              <a:defRPr sz="2400" b="0" i="0" spc="600" baseline="0">
                <a:solidFill>
                  <a:schemeClr val="bg1"/>
                </a:solidFill>
                <a:latin typeface="Futura PT Medium"/>
                <a:ea typeface="Futura PT Medium"/>
                <a:cs typeface="Futura PT Medium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SUBTITLE (OPTIONAL)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DD5947F8-2A5C-4F2A-A743-00DC3235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1278" y="5614038"/>
            <a:ext cx="200026" cy="2000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D2DC57E-E500-4AE9-8B15-2A6B39B3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998" y="662043"/>
            <a:ext cx="2256467" cy="315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BFDCCF"/>
              </a:solidFill>
            </a:endParaRPr>
          </a:p>
        </p:txBody>
      </p:sp>
      <p:sp>
        <p:nvSpPr>
          <p:cNvPr id="14" name="Subtitle 2">
            <a:extLst xmlns:a="http://schemas.openxmlformats.org/drawingml/2006/main">
              <a:ext uri="{FF2B5EF4-FFF2-40B4-BE49-F238E27FC236}">
                <a16:creationId xmlns:a16="http://schemas.microsoft.com/office/drawing/2014/main" id="{E375CCBB-6CF0-4063-8DC2-C965986A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529" y="719932"/>
            <a:ext cx="2470781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spc="600">
                <a:solidFill>
                  <a:schemeClr val="bg1"/>
                </a:solidFill>
                <a:latin typeface="Futura Medium"/>
                <a:ea typeface="Futura Medium"/>
                <a:cs typeface="Futura Medium"/>
              </a:rPr>
              <a:t>•CONFIDENTIAL</a:t>
            </a:r>
          </a:p>
        </p:txBody>
      </p:sp>
      <p:sp>
        <p:nvSpPr>
          <p:cNvPr id="15" name="Subtitle 2">
            <a:extLst xmlns:a="http://schemas.openxmlformats.org/drawingml/2006/main">
              <a:ext uri="{FF2B5EF4-FFF2-40B4-BE49-F238E27FC236}">
                <a16:creationId xmlns:a16="http://schemas.microsoft.com/office/drawing/2014/main" id="{2601CCB9-7487-4AD8-8CFE-209CEBE8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7270" y="4233338"/>
            <a:ext cx="9144000" cy="6902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b="0" i="0" kern="1200" spc="600" baseline="0">
                <a:solidFill>
                  <a:srgbClr val="BFDCCF"/>
                </a:solidFill>
                <a:latin typeface="Futura PT Medium"/>
                <a:ea typeface="Futura PT Medium"/>
                <a:cs typeface="Futura PT Medium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000" spc="-300">
                <a:solidFill>
                  <a:schemeClr val="bg1"/>
                </a:solidFill>
              </a:rPr>
              <a:t>/////////////////////////////</a:t>
            </a:r>
          </a:p>
        </p:txBody>
      </p:sp>
      <p:pic>
        <p:nvPicPr>
          <p:cNvPr id="2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cffecd7a842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2608" y="244308"/>
            <a:ext cx="1981645" cy="1400935"/>
          </a:xfrm>
          <a:prstGeom xmlns:a="http://schemas.openxmlformats.org/drawingml/2006/main" prst="rect">
            <a:avLst/>
          </a:prstGeom>
        </p:spPr>
      </p:pic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030604A-9476-EA2B-7021-FFF1BEBDEE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 rot="16200000">
            <a:off x="9548331" y="3651023"/>
            <a:ext cx="3412830" cy="2000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algn="l">
              <a:buNone/>
              <a:defRPr sz="900" spc="3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spcBef>
                <a:spcPts val="600"/>
              </a:spcBef>
              <a:buNone/>
            </a:pPr>
            <a:r>
              <a:rPr>
                <a:latin typeface="Futura Medium"/>
                <a:ea typeface="Futura Medium"/>
                <a:cs typeface="Futura Medium"/>
              </a:rPr>
              <a:t>© Beyond Next Ventures, Inc.</a:t>
            </a:r>
          </a:p>
          <a:p xmlns:a="http://schemas.openxmlformats.org/drawingml/2006/main">
            <a:pPr>
              <a:spcBef>
                <a:spcPts val="600"/>
              </a:spcBef>
              <a:buNone/>
            </a:pPr>
            <a:endParaRPr>
              <a:latin typeface="Futura Medium"/>
              <a:ea typeface="Futura Medium"/>
              <a:cs typeface="Futura Medium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背景（水色）">
    <p:bg>
      <p:bgPr>
        <a:blipFill xmlns:a="http://schemas.openxmlformats.org/drawingml/2006/main" rotWithShape="1">
          <a:blip xmlns:r="http://schemas.openxmlformats.org/officeDocument/2006/relationships" r:embed="Ra1760b2ddc034e3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6C9B31-7A6C-4584-9D51-CCC5EC22D6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05118" y="6383244"/>
            <a:ext cx="380998" cy="3382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chemeClr val="bg1"/>
                </a:solidFill>
                <a:latin typeface="Futura PT Cond Book Italic"/>
                <a:ea typeface="Futura PT Cond Book Italic"/>
                <a:cs typeface="Futura PT Cond Book Italic"/>
              </a:defRPr>
            </a:lvl1pPr>
          </a:lstStyle>
          <a:p xmlns:a="http://schemas.openxmlformats.org/drawingml/2006/main">
            <a:fld id="{EA818FD4-2EA2-0248-8203-5C0A81512996}" type="slidenum">
              <a:t>‹#›</a:t>
            </a:fld>
            <a:endParaRPr/>
          </a:p>
        </p:txBody>
      </p:sp>
      <p:sp>
        <p:nvSpPr>
          <p:cNvPr id="12" name="Subtitle 2">
            <a:extLst xmlns:a="http://schemas.openxmlformats.org/drawingml/2006/main">
              <a:ext uri="{FF2B5EF4-FFF2-40B4-BE49-F238E27FC236}">
                <a16:creationId xmlns:a16="http://schemas.microsoft.com/office/drawing/2014/main" id="{431762C3-8DEA-4DC3-928C-B8A1BA18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330" y="6283231"/>
            <a:ext cx="2227777" cy="198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spc="600">
                <a:solidFill>
                  <a:schemeClr val="bg1"/>
                </a:solidFill>
                <a:latin typeface="Futura Medium"/>
                <a:ea typeface="Futura Medium"/>
                <a:cs typeface="Futura Medium"/>
              </a:rPr>
              <a:t>•CONFIDENTIAL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34c010d2a34fa7" /><Relationship Type="http://schemas.openxmlformats.org/officeDocument/2006/relationships/slideLayout" Target="/ppt/slideLayouts/slideLayout1.xml" Id="R09e9a5c496154043" /><Relationship Type="http://schemas.openxmlformats.org/officeDocument/2006/relationships/slideLayout" Target="/ppt/slideLayouts/slideLayout2.xml" Id="R2ac5562d3e5b4ab3" /><Relationship Type="http://schemas.openxmlformats.org/officeDocument/2006/relationships/slideLayout" Target="/ppt/slideLayouts/slideLayout3.xml" Id="Rcd0b3c4acb72447e" /><Relationship Type="http://schemas.openxmlformats.org/officeDocument/2006/relationships/slideLayout" Target="/ppt/slideLayouts/slideLayout4.xml" Id="R270d7389323b4065" /><Relationship Type="http://schemas.openxmlformats.org/officeDocument/2006/relationships/slideLayout" Target="/ppt/slideLayouts/slideLayout5.xml" Id="R45f1a212f6af4520" /><Relationship Type="http://schemas.openxmlformats.org/officeDocument/2006/relationships/slideLayout" Target="/ppt/slideLayouts/slideLayout6.xml" Id="Rb53d919817e54344" /><Relationship Type="http://schemas.openxmlformats.org/officeDocument/2006/relationships/slideLayout" Target="/ppt/slideLayouts/slideLayout7.xml" Id="Rf5fa62ee8b5d48f2" /><Relationship Type="http://schemas.openxmlformats.org/officeDocument/2006/relationships/slideLayout" Target="/ppt/slideLayouts/slideLayout8.xml" Id="R506d2bd3a5a1432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21164AB-2DB1-4F7E-ABED-50E1E0CF46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5938" y="133213"/>
            <a:ext cx="11160124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5110541-62FE-4B7C-B1CD-C2E2817E28A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16487C-ADD5-4362-9002-414223056B1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DECEMBER 2019 | BEYOND NEXT VENTURES INC.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ED8952-6ED2-467D-B195-56C57B819D1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A818FD4-2EA2-0248-8203-5C0A81512996}" type="slidenum">
              <a:t>‹#›</a:t>
            </a:fld>
            <a:endParaRPr/>
          </a:p>
        </p:txBody>
      </p:sp>
      <p:sp>
        <p:nvSpPr>
          <p:cNvPr id="7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F9530DE-6D21-48AE-9CFF-18258D62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2672" y="-286139"/>
            <a:ext cx="761777" cy="223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8A99"/>
          </a:solidFill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146C1FE-7207-48DE-8A5C-5D52C60E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340" y="-286139"/>
            <a:ext cx="761777" cy="223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5A57"/>
          </a:solidFill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A3D63AC-303A-4436-AC7B-37762984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08" y="-286139"/>
            <a:ext cx="761777" cy="223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CCF"/>
          </a:solidFill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B89A86F-FA15-473D-8BA8-092C8D73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676" y="-286139"/>
            <a:ext cx="761777" cy="223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B16A"/>
          </a:solidFill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971BA5A-6498-4E21-8DE7-F692E0EA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5342" y="-286139"/>
            <a:ext cx="761777" cy="223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722"/>
          </a:solidFill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423A379-5C79-4985-89D5-98659A58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286139"/>
            <a:ext cx="761777" cy="223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5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C8F3483-12B3-4022-9862-29FB9556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68" y="-286139"/>
            <a:ext cx="761777" cy="223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CA3"/>
          </a:solidFill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ECD28BF-B294-40D6-ACCD-85EC933B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1336" y="-286139"/>
            <a:ext cx="761777" cy="223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5F5"/>
          </a:solidFill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BFB2641-AF4C-4E50-88B9-BA644CC7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004" y="-286139"/>
            <a:ext cx="761777" cy="223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509"/>
          </a:solidFill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e9a5c496154043"/>
    <p:sldLayoutId xmlns:r="http://schemas.openxmlformats.org/officeDocument/2006/relationships" id="2147483650" r:id="R2ac5562d3e5b4ab3"/>
    <p:sldLayoutId xmlns:r="http://schemas.openxmlformats.org/officeDocument/2006/relationships" id="2147483651" r:id="Rcd0b3c4acb72447e"/>
    <p:sldLayoutId xmlns:r="http://schemas.openxmlformats.org/officeDocument/2006/relationships" id="2147483652" r:id="R270d7389323b4065"/>
    <p:sldLayoutId xmlns:r="http://schemas.openxmlformats.org/officeDocument/2006/relationships" id="2147483653" r:id="R45f1a212f6af4520"/>
    <p:sldLayoutId xmlns:r="http://schemas.openxmlformats.org/officeDocument/2006/relationships" id="2147483654" r:id="Rb53d919817e54344"/>
    <p:sldLayoutId xmlns:r="http://schemas.openxmlformats.org/officeDocument/2006/relationships" id="2147483655" r:id="Rf5fa62ee8b5d48f2"/>
    <p:sldLayoutId xmlns:r="http://schemas.openxmlformats.org/officeDocument/2006/relationships" id="2147483656" r:id="R506d2bd3a5a14329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000" b="1" kern="1200" spc="300" baseline="0">
          <a:solidFill>
            <a:schemeClr val="tx1"/>
          </a:solidFill>
          <a:latin typeface="FUTURA MEDIUM"/>
          <a:ea typeface="FUTURA MEDIUM"/>
          <a:cs typeface="FUTURA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xmlns:a="http://schemas.openxmlformats.org/drawingml/2006/main" val="F26B43"/>
          </p15:clr>
        </p15:guide>
        <p15:guide id="2" pos="7355">
          <p15:clr>
            <a:srgbClr xmlns:a="http://schemas.openxmlformats.org/drawingml/2006/main" val="F26B43"/>
          </p15:clr>
        </p15:guide>
        <p15:guide id="3" pos="325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テーマ">
  <a:themeElements>
    <a:clrScheme name="Beyond01">
      <a:dk1>
        <a:srgbClr val="212121"/>
      </a:dk1>
      <a:lt1>
        <a:srgbClr val="FFFFFF"/>
      </a:lt1>
      <a:dk2>
        <a:srgbClr val="000000"/>
      </a:dk2>
      <a:lt2>
        <a:srgbClr val="EEEEEE"/>
      </a:lt2>
      <a:accent1>
        <a:srgbClr val="002C54"/>
      </a:accent1>
      <a:accent2>
        <a:srgbClr val="207CA3"/>
      </a:accent2>
      <a:accent3>
        <a:srgbClr val="4CB5F5"/>
      </a:accent3>
      <a:accent4>
        <a:srgbClr val="EFB509"/>
      </a:accent4>
      <a:accent5>
        <a:srgbClr val="488A99"/>
      </a:accent5>
      <a:accent6>
        <a:srgbClr val="CE5957"/>
      </a:accent6>
      <a:hlink>
        <a:srgbClr val="7980FF"/>
      </a:hlink>
      <a:folHlink>
        <a:srgbClr val="7980FF"/>
      </a:folHlink>
    </a:clrScheme>
    <a:fontScheme name="ユーザー定義 2">
      <a:majorFont>
        <a:latin typeface="游ゴシック"/>
        <a:ea typeface="游ゴシック"/>
        <a:cs typeface="游ゴシック"/>
      </a:majorFont>
      <a:minorFont>
        <a:latin typeface="游ゴシック"/>
        <a:ea typeface="游ゴシック"/>
        <a:cs typeface=""/>
      </a:minorFont>
    </a:fontScheme>
    <a:fmtScheme name="Beyond0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acbe15efc4f16" /><Relationship Type="http://schemas.openxmlformats.org/officeDocument/2006/relationships/notesSlide" Target="/ppt/notesSlides/notesSlide1.xml" Id="Rf130e23e92e240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23b950ad2a432a" /><Relationship Type="http://schemas.openxmlformats.org/officeDocument/2006/relationships/notesSlide" Target="/ppt/notesSlides/notesSlide2.xml" Id="R0c0a92d2cef541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2250f3dcb149f1" /><Relationship Type="http://schemas.openxmlformats.org/officeDocument/2006/relationships/image" Target="/ppt/media/image5.png" Id="R5bd225400a834866" /><Relationship Type="http://schemas.openxmlformats.org/officeDocument/2006/relationships/notesSlide" Target="/ppt/notesSlides/notesSlide3.xml" Id="R0d0949647a2c44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ebfc20b9e34a33" /><Relationship Type="http://schemas.openxmlformats.org/officeDocument/2006/relationships/image" Target="/ppt/media/image6.png" Id="R9485659d6f144584" /><Relationship Type="http://schemas.openxmlformats.org/officeDocument/2006/relationships/notesSlide" Target="/ppt/notesSlides/notesSlide4.xml" Id="Re944456156a248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3f3ffef775469e" /><Relationship Type="http://schemas.openxmlformats.org/officeDocument/2006/relationships/notesSlide" Target="/ppt/notesSlides/notesSlide5.xml" Id="Rd7e90386acf54a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f383f3cccb4e9c" /><Relationship Type="http://schemas.openxmlformats.org/officeDocument/2006/relationships/notesSlide" Target="/ppt/notesSlides/notesSlide6.xml" Id="R54a6ff5850bf4a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6cd3afe69f46ac" /><Relationship Type="http://schemas.openxmlformats.org/officeDocument/2006/relationships/notesSlide" Target="/ppt/notesSlides/notesSlide7.xml" Id="R609111f3d65745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c9a7f0e1f04020" /><Relationship Type="http://schemas.openxmlformats.org/officeDocument/2006/relationships/notesSlide" Target="/ppt/notesSlides/notesSlide8.xml" Id="R80173ef048d04d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e486a6441841c0" /><Relationship Type="http://schemas.openxmlformats.org/officeDocument/2006/relationships/image" Target="/ppt/media/image7.png" Id="Rd4cc170ae2af4b04" /><Relationship Type="http://schemas.openxmlformats.org/officeDocument/2006/relationships/image" Target="/ppt/media/image8.png" Id="R1188222ba9824f11" /><Relationship Type="http://schemas.openxmlformats.org/officeDocument/2006/relationships/notesSlide" Target="/ppt/notesSlides/notesSlide9.xml" Id="R1c1d6b12f9754f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c0bfcfd7754f06" /><Relationship Type="http://schemas.openxmlformats.org/officeDocument/2006/relationships/image" Target="/ppt/media/image9.png" Id="R8eaa43f9e9ce4d6f" /><Relationship Type="http://schemas.openxmlformats.org/officeDocument/2006/relationships/notesSlide" Target="/ppt/notesSlides/notesSlide10.xml" Id="R96b69dffa3b74b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f0a0e43b0c45a7" /><Relationship Type="http://schemas.openxmlformats.org/officeDocument/2006/relationships/image" Target="/ppt/media/image10.png" Id="R77755153233647dc" /><Relationship Type="http://schemas.openxmlformats.org/officeDocument/2006/relationships/notesSlide" Target="/ppt/notesSlides/notesSlide11.xml" Id="R8ba474b1b71743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1ee862504d4b37" /><Relationship Type="http://schemas.openxmlformats.org/officeDocument/2006/relationships/image" Target="/ppt/media/image11.png" Id="Raee05869b95c4c24" /><Relationship Type="http://schemas.openxmlformats.org/officeDocument/2006/relationships/notesSlide" Target="/ppt/notesSlides/notesSlide12.xml" Id="R2713947cc30a4a9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d3e549bafc4a7a" /><Relationship Type="http://schemas.openxmlformats.org/officeDocument/2006/relationships/notesSlide" Target="/ppt/notesSlides/notesSlide13.xml" Id="R4d665f6478704ae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98c2db33df420a" /><Relationship Type="http://schemas.openxmlformats.org/officeDocument/2006/relationships/notesSlide" Target="/ppt/notesSlides/notesSlide14.xml" Id="Re9e8b5fced9a40e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c6cc2e23cc40b9" /><Relationship Type="http://schemas.openxmlformats.org/officeDocument/2006/relationships/notesSlide" Target="/ppt/notesSlides/notesSlide15.xml" Id="R26b68193bdeb413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ce6045a4ec47d9" /><Relationship Type="http://schemas.openxmlformats.org/officeDocument/2006/relationships/notesSlide" Target="/ppt/notesSlides/notesSlide16.xml" Id="R1fdc87d00ed04a1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bc1c5dff064534" /><Relationship Type="http://schemas.openxmlformats.org/officeDocument/2006/relationships/notesSlide" Target="/ppt/notesSlides/notesSlide17.xml" Id="R67637b646f9b40e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4c399e030a47e1" /><Relationship Type="http://schemas.openxmlformats.org/officeDocument/2006/relationships/notesSlide" Target="/ppt/notesSlides/notesSlide18.xml" Id="R80fa627a0470478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1f1ad95ef84b17" /><Relationship Type="http://schemas.openxmlformats.org/officeDocument/2006/relationships/hyperlink" Target="https://press.uchicago.edu/ucp/books/book/chicago/T/bo6035368.html" TargetMode="External" Id="Rb7be71f707394a0a" /><Relationship Type="http://schemas.openxmlformats.org/officeDocument/2006/relationships/hyperlink" Target="https://pubmed.ncbi.nlm.nih.gov/19739881/" TargetMode="External" Id="R3faf20cebdc442d2" /><Relationship Type="http://schemas.openxmlformats.org/officeDocument/2006/relationships/hyperlink" Target="https://arxiv.org/abs/2303.08774" TargetMode="External" Id="Ree30c6dc06db483f" /><Relationship Type="http://schemas.openxmlformats.org/officeDocument/2006/relationships/notesSlide" Target="/ppt/notesSlides/notesSlide19.xml" Id="R915df67cd29f446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84e280bc424028" /><Relationship Type="http://schemas.openxmlformats.org/officeDocument/2006/relationships/hyperlink" Target="https://chatgpt.com/share/e/6a9250c4-a114-800d-a4e5-cddfec75de1d" TargetMode="External" Id="R1fa521d2e010435f" /><Relationship Type="http://schemas.openxmlformats.org/officeDocument/2006/relationships/hyperlink" Target="https://undraw.co/illustration/online-learning_tgmv" TargetMode="External" Id="Rf50b2216c3e9423c" /><Relationship Type="http://schemas.openxmlformats.org/officeDocument/2006/relationships/hyperlink" Target="https://undraw.co/illustration/file-analysis_nbtc" TargetMode="External" Id="R798e6b9e7cae47ca" /><Relationship Type="http://schemas.openxmlformats.org/officeDocument/2006/relationships/notesSlide" Target="/ppt/notesSlides/notesSlide20.xml" Id="R289e8cbcac6c4b0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4182fd73cb84907" /><Relationship Type="http://schemas.openxmlformats.org/officeDocument/2006/relationships/notesSlide" Target="/ppt/notesSlides/notesSlide21.xml" Id="R99771102a0124d9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B0314058-32D4-902C-76AF-38DF452AD7E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AI時代の仕事観</a:t>
            </a:r>
          </a:p>
        </p:txBody>
      </p:sp>
      <p:sp>
        <p:nvSpPr>
          <p:cNvPr id="3" name="字幕 2">
            <a:extLst xmlns:a="http://schemas.openxmlformats.org/drawingml/2006/main">
              <a:ext uri="{FF2B5EF4-FFF2-40B4-BE49-F238E27FC236}">
                <a16:creationId xmlns:a16="http://schemas.microsoft.com/office/drawing/2014/main" id="{3FE77D7F-2315-7560-1CA2-FAADFF40EC7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センスを言語化し、組織とAIに残す</a:t>
            </a:r>
            <a:endParaRPr/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A23BAFF3-DE64-FC14-A9AD-930B66AAC33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buNone/>
            </a:pPr>
            <a:r>
              <a:t>© Beyond Next Ventures, Inc.</a:t>
            </a:r>
            <a:endParaRPr/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ED8952-6ED2-467D-B195-56C57B819D1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D75FED6-38D0-DE9C-92C0-6E7FA635581C}" type="slidenum"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07392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0999AE3E-0AE7-A10F-E639-E819CEBFDA3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今日の問い</a:t>
            </a:r>
          </a:p>
        </p:txBody>
      </p:sp>
      <p:sp>
        <p:nvSpPr>
          <p:cNvPr id="3" name="字幕 2">
            <a:extLst xmlns:a="http://schemas.openxmlformats.org/drawingml/2006/main">
              <a:ext uri="{FF2B5EF4-FFF2-40B4-BE49-F238E27FC236}">
                <a16:creationId xmlns:a16="http://schemas.microsoft.com/office/drawing/2014/main" id="{4AB36C70-C7B1-D5DF-9E2A-DFCB49F0B55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AI時代、人間は何を仕事として担うのか？</a:t>
            </a:r>
            <a:endParaRPr/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9BB8244-D01A-DE0F-559B-BA51461BD4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buNone/>
            </a:pPr>
            <a:r>
              <a:rPr>
                <a:latin typeface="Futura Medium"/>
                <a:ea typeface="Futura Medium"/>
                <a:cs typeface="Futura Medium"/>
              </a:rPr>
              <a:t>© Beyond Next Ventures, Inc.</a:t>
            </a:r>
          </a:p>
        </p:txBody>
      </p:sp>
      <p:sp>
        <p:nvSpPr>
          <p:cNvPr id="5" name="confidential-cover">
            <a:extLst xmlns:a="http://schemas.openxmlformats.org/drawingml/2006/main">
              <a:ext uri="{FF2B5EF4-FFF2-40B4-BE49-F238E27FC236}">
                <a16:creationId xmlns:a16="http://schemas.microsoft.com/office/drawing/2014/main" id="{574412FA-C125-4273-8958-F97844A0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24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5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confidential-relocated">
            <a:extLst xmlns:a="http://schemas.openxmlformats.org/drawingml/2006/main">
              <a:ext uri="{FF2B5EF4-FFF2-40B4-BE49-F238E27FC236}">
                <a16:creationId xmlns:a16="http://schemas.microsoft.com/office/drawing/2014/main" id="{4A79200D-BE44-4A6E-83C0-3F2E29AB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483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75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• C O N F I D E N T I A L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ED8952-6ED2-467D-B195-56C57B819D1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08846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5386CD39-55B8-B28A-0D62-14C7B839A4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センスって何だろう？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3BEFFFDD-FCC9-D8C8-B65D-FD14962180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43C20B8F-57B8-DF6D-02C6-2494E3EAA67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センスとは、経験や好みの積み重ねから、無意識に『こちらが良い』と選び取る判断。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d225400a834866"/>
          <a:srcRect xmlns:a="http://schemas.openxmlformats.org/drawingml/2006/main" l="0" t="5795" r="0" b="57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38625" y="1571625"/>
            <a:ext cx="7191375" cy="4238625"/>
          </a:xfrm>
          <a:prstGeom xmlns:a="http://schemas.openxmlformats.org/drawingml/2006/main" prst="rect">
            <a:avLst/>
          </a:prstGeom>
        </p:spPr>
      </p:pic>
      <p:sp>
        <p:nvSpPr>
          <p:cNvPr id="6" name="sense-definition">
            <a:extLst xmlns:a="http://schemas.openxmlformats.org/drawingml/2006/main">
              <a:ext uri="{FF2B5EF4-FFF2-40B4-BE49-F238E27FC236}">
                <a16:creationId xmlns:a16="http://schemas.microsoft.com/office/drawing/2014/main" id="{163C9FF7-2648-45F5-92A7-35A06A4B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210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経験と好みが積み重なり</a:t>
            </a:r>
          </a:p>
          <a:p xmlns:a="http://schemas.openxmlformats.org/drawingml/2006/main">
            <a:pPr>
              <a:buNone/>
              <a:defRPr sz="210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210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無意識に『こちらが良い』と選ぶ</a:t>
            </a:r>
          </a:p>
        </p:txBody>
      </p:sp>
      <p:sp>
        <p:nvSpPr>
          <p:cNvPr id="7" name="sense-examples">
            <a:extLst xmlns:a="http://schemas.openxmlformats.org/drawingml/2006/main">
              <a:ext uri="{FF2B5EF4-FFF2-40B4-BE49-F238E27FC236}">
                <a16:creationId xmlns:a16="http://schemas.microsoft.com/office/drawing/2014/main" id="{66EF1599-1CB9-4592-9E10-A945917A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3905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212121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575">
                <a:solidFill>
                  <a:srgbClr val="212121"/>
                </a:solidFill>
                <a:latin typeface="游ゴシック"/>
                <a:ea typeface="游ゴシック"/>
                <a:cs typeface="游ゴシック"/>
              </a:rPr>
              <a:t>・服・味・人・場の空気を感じる</a:t>
            </a:r>
          </a:p>
          <a:p xmlns:a="http://schemas.openxmlformats.org/drawingml/2006/main">
            <a:pPr>
              <a:buNone/>
              <a:defRPr sz="1575">
                <a:solidFill>
                  <a:srgbClr val="212121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575">
                <a:solidFill>
                  <a:srgbClr val="212121"/>
                </a:solidFill>
                <a:latin typeface="游ゴシック"/>
                <a:ea typeface="游ゴシック"/>
                <a:cs typeface="游ゴシック"/>
              </a:rPr>
              <a:t>・似た選択肢から一方を選ぶ</a:t>
            </a:r>
          </a:p>
          <a:p xmlns:a="http://schemas.openxmlformats.org/drawingml/2006/main">
            <a:pPr>
              <a:buNone/>
              <a:defRPr sz="1575">
                <a:solidFill>
                  <a:srgbClr val="212121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575">
                <a:solidFill>
                  <a:srgbClr val="212121"/>
                </a:solidFill>
                <a:latin typeface="游ゴシック"/>
                <a:ea typeface="游ゴシック"/>
                <a:cs typeface="游ゴシック"/>
              </a:rPr>
              <a:t>・あとから理由を説明することもある</a:t>
            </a:r>
          </a:p>
        </p:txBody>
      </p:sp>
    </p:spTree>
    <p:extLst>
      <p:ext uri="{BB962C8B-B14F-4D97-AF65-F5344CB8AC3E}">
        <p14:creationId xmlns:p14="http://schemas.microsoft.com/office/powerpoint/2010/main" val="3722257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5386CD39-55B8-B28A-0D62-14C7B839A4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センスは教科書だけでは育たない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3BEFFFDD-FCC9-D8C8-B65D-FD14962180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43C20B8F-57B8-DF6D-02C6-2494E3EAA67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知識は学べる。センスは、経験し、試し、振り返って磨く。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85659d6f144584"/>
          <a:srcRect xmlns:a="http://schemas.openxmlformats.org/drawingml/2006/main" l="0" t="5500" r="0" b="5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1571625"/>
            <a:ext cx="7143750" cy="4238625"/>
          </a:xfrm>
          <a:prstGeom xmlns:a="http://schemas.openxmlformats.org/drawingml/2006/main" prst="rect">
            <a:avLst/>
          </a:prstGeom>
        </p:spPr>
      </p:pic>
      <p:sp>
        <p:nvSpPr>
          <p:cNvPr id="6" name="title-render-fix">
            <a:extLst xmlns:a="http://schemas.openxmlformats.org/drawingml/2006/main">
              <a:ext uri="{FF2B5EF4-FFF2-40B4-BE49-F238E27FC236}">
                <a16:creationId xmlns:a16="http://schemas.microsoft.com/office/drawing/2014/main" id="{FCDB05CB-25B3-420B-A817-58D9C606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14350" tIns="0" rIns="1143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2025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センスは教科書だけでは育たない</a:t>
            </a:r>
          </a:p>
        </p:txBody>
      </p:sp>
      <p:sp>
        <p:nvSpPr>
          <p:cNvPr id="7" name="textbook-thesis">
            <a:extLst xmlns:a="http://schemas.openxmlformats.org/drawingml/2006/main">
              <a:ext uri="{FF2B5EF4-FFF2-40B4-BE49-F238E27FC236}">
                <a16:creationId xmlns:a16="http://schemas.microsoft.com/office/drawing/2014/main" id="{F5C5A2DA-F9C6-4729-B65A-3A568190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2325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教科書で学べるのは</a:t>
            </a:r>
          </a:p>
          <a:p xmlns:a="http://schemas.openxmlformats.org/drawingml/2006/main">
            <a:pPr>
              <a:buNone/>
              <a:defRPr sz="2325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2325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知識と型</a:t>
            </a:r>
          </a:p>
        </p:txBody>
      </p:sp>
      <p:sp>
        <p:nvSpPr>
          <p:cNvPr id="8" name="textbook-beyond">
            <a:extLst xmlns:a="http://schemas.openxmlformats.org/drawingml/2006/main">
              <a:ext uri="{FF2B5EF4-FFF2-40B4-BE49-F238E27FC236}">
                <a16:creationId xmlns:a16="http://schemas.microsoft.com/office/drawing/2014/main" id="{4178117F-7F39-4052-809D-2BC2B288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33750"/>
            <a:ext cx="3905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07CA3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800" b="1">
                <a:solidFill>
                  <a:srgbClr val="207CA3"/>
                </a:solidFill>
                <a:latin typeface="游ゴシック"/>
                <a:ea typeface="游ゴシック"/>
                <a:cs typeface="游ゴシック"/>
              </a:rPr>
              <a:t>センスは、現実に触れたときの</a:t>
            </a:r>
          </a:p>
          <a:p xmlns:a="http://schemas.openxmlformats.org/drawingml/2006/main">
            <a:pPr>
              <a:buNone/>
              <a:defRPr sz="1800" b="1">
                <a:solidFill>
                  <a:srgbClr val="207CA3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800" b="1">
                <a:solidFill>
                  <a:srgbClr val="207CA3"/>
                </a:solidFill>
                <a:latin typeface="游ゴシック"/>
                <a:ea typeface="游ゴシック"/>
                <a:cs typeface="游ゴシック"/>
              </a:rPr>
              <a:t>成功・失敗・違和感で育つ</a:t>
            </a:r>
          </a:p>
        </p:txBody>
      </p:sp>
      <p:sp>
        <p:nvSpPr>
          <p:cNvPr id="9" name="textbook-callout">
            <a:extLst xmlns:a="http://schemas.openxmlformats.org/drawingml/2006/main">
              <a:ext uri="{FF2B5EF4-FFF2-40B4-BE49-F238E27FC236}">
                <a16:creationId xmlns:a16="http://schemas.microsoft.com/office/drawing/2014/main" id="{0A17C687-F340-464B-BAA0-8450817D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05375"/>
            <a:ext cx="3905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02C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725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知るだけではなく、経験して磨く</a:t>
            </a:r>
          </a:p>
        </p:txBody>
      </p:sp>
    </p:spTree>
    <p:extLst>
      <p:ext uri="{BB962C8B-B14F-4D97-AF65-F5344CB8AC3E}">
        <p14:creationId xmlns:p14="http://schemas.microsoft.com/office/powerpoint/2010/main" val="3722257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5386CD39-55B8-B28A-0D62-14C7B839A4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仕事にも未言語の判断がある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3BEFFFDD-FCC9-D8C8-B65D-FD14962180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43C20B8F-57B8-DF6D-02C6-2494E3EAA67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五感と経験で磨いたセンスは、仕事の『なんか違う』にも表れる。</a:t>
            </a:r>
          </a:p>
        </p:txBody>
      </p:sp>
      <p:sp>
        <p:nvSpPr>
          <p:cNvPr id="5" name="work-sense-list">
            <a:extLst xmlns:a="http://schemas.openxmlformats.org/drawingml/2006/main">
              <a:ext uri="{FF2B5EF4-FFF2-40B4-BE49-F238E27FC236}">
                <a16:creationId xmlns:a16="http://schemas.microsoft.com/office/drawing/2014/main" id="{099FBF35-5F23-4ABF-8289-35F95189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57375"/>
            <a:ext cx="62865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2">
              <a:spcAft>
                <a:spcPts val="12"/>
              </a:spcAft>
              <a:buChar char="•"/>
              <a:defRPr sz="1875">
                <a:solidFill>
                  <a:srgbClr val="212121"/>
                </a:solidFill>
                <a:latin typeface="游ゴシック"/>
                <a:ea typeface="游ゴシック"/>
                <a:cs typeface="游ゴシック"/>
              </a:defRPr>
            </a:pPr>
            <a:r>
              <a:t>この資料は、なんか違う</a:t>
            </a:r>
          </a:p>
          <a:p xmlns:a="http://schemas.openxmlformats.org/drawingml/2006/main">
            <a:pPr marL="24" indent="-12">
              <a:spcAft>
                <a:spcPts val="12"/>
              </a:spcAft>
              <a:buChar char="•"/>
              <a:defRPr sz="1875">
                <a:solidFill>
                  <a:srgbClr val="212121"/>
                </a:solidFill>
                <a:latin typeface="游ゴシック"/>
                <a:ea typeface="游ゴシック"/>
                <a:cs typeface="游ゴシック"/>
              </a:defRPr>
            </a:pPr>
            <a:r>
              <a:t>この候補者は、うちに合いそう</a:t>
            </a:r>
          </a:p>
          <a:p xmlns:a="http://schemas.openxmlformats.org/drawingml/2006/main">
            <a:pPr marL="24" indent="-12">
              <a:spcAft>
                <a:spcPts val="12"/>
              </a:spcAft>
              <a:buChar char="•"/>
              <a:defRPr sz="1875">
                <a:solidFill>
                  <a:srgbClr val="212121"/>
                </a:solidFill>
                <a:latin typeface="游ゴシック"/>
                <a:ea typeface="游ゴシック"/>
                <a:cs typeface="游ゴシック"/>
              </a:defRPr>
            </a:pPr>
            <a:r>
              <a:t>このメールは、この言い方ではない</a:t>
            </a:r>
          </a:p>
          <a:p xmlns:a="http://schemas.openxmlformats.org/drawingml/2006/main">
            <a:pPr marL="24" indent="-12">
              <a:spcAft>
                <a:spcPts val="12"/>
              </a:spcAft>
              <a:buChar char="•"/>
              <a:defRPr sz="1875">
                <a:solidFill>
                  <a:srgbClr val="212121"/>
                </a:solidFill>
                <a:latin typeface="游ゴシック"/>
                <a:ea typeface="游ゴシック"/>
                <a:cs typeface="游ゴシック"/>
              </a:defRPr>
            </a:pPr>
            <a:r>
              <a:t>この数字は、一度確認した方がいい</a:t>
            </a:r>
          </a:p>
        </p:txBody>
      </p:sp>
      <p:sp>
        <p:nvSpPr>
          <p:cNvPr id="6" name="work-sense-quote">
            <a:extLst xmlns:a="http://schemas.openxmlformats.org/drawingml/2006/main">
              <a:ext uri="{FF2B5EF4-FFF2-40B4-BE49-F238E27FC236}">
                <a16:creationId xmlns:a16="http://schemas.microsoft.com/office/drawing/2014/main" id="{7333096B-AC70-40EE-A5F0-A1611C8E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3714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02C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225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3225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『なんか違う』</a:t>
            </a:r>
          </a:p>
        </p:txBody>
      </p:sp>
      <p:sp>
        <p:nvSpPr>
          <p:cNvPr id="7" name="work-sense-caption">
            <a:extLst xmlns:a="http://schemas.openxmlformats.org/drawingml/2006/main">
              <a:ext uri="{FF2B5EF4-FFF2-40B4-BE49-F238E27FC236}">
                <a16:creationId xmlns:a16="http://schemas.microsoft.com/office/drawing/2014/main" id="{40C71511-9C17-4C5E-B197-DBA4B13F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05250"/>
            <a:ext cx="3524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950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その違和感の中に</a:t>
            </a:r>
          </a:p>
          <a:p xmlns:a="http://schemas.openxmlformats.org/drawingml/2006/main">
            <a:pPr algn="ctr">
              <a:buNone/>
              <a:defRPr sz="1950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950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判断基準が隠れている</a:t>
            </a:r>
          </a:p>
        </p:txBody>
      </p:sp>
    </p:spTree>
    <p:extLst>
      <p:ext uri="{BB962C8B-B14F-4D97-AF65-F5344CB8AC3E}">
        <p14:creationId xmlns:p14="http://schemas.microsoft.com/office/powerpoint/2010/main" val="3722257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5386CD39-55B8-B28A-0D62-14C7B839A4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人は言葉になる前に気づける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3BEFFFDD-FCC9-D8C8-B65D-FD14962180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43C20B8F-57B8-DF6D-02C6-2494E3EAA67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AIが見落とす未言語の違和感を、人は五感で感じ取れる。</a:t>
            </a:r>
          </a:p>
        </p:txBody>
      </p:sp>
      <p:sp>
        <p:nvSpPr>
          <p:cNvPr id="5" name="human-sense">
            <a:extLst xmlns:a="http://schemas.openxmlformats.org/drawingml/2006/main">
              <a:ext uri="{FF2B5EF4-FFF2-40B4-BE49-F238E27FC236}">
                <a16:creationId xmlns:a16="http://schemas.microsoft.com/office/drawing/2014/main" id="{4A0F9FEC-E00A-4917-98B2-17E0AFDF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2197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09550" tIns="152400" rIns="209550" bIns="1524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游ゴシック"/>
                <a:ea typeface="游ゴシック"/>
                <a:cs typeface="游ゴシック"/>
              </a:defRPr>
            </a:pPr>
            <a:r>
              <a:rPr sz="2025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人間の強み</a:t>
            </a:r>
          </a:p>
          <a:p xmlns:a="http://schemas.openxmlformats.org/drawingml/2006/main">
            <a:pPr>
              <a:buNone/>
              <a:defRPr>
                <a:latin typeface="游ゴシック"/>
                <a:ea typeface="游ゴシック"/>
                <a:cs typeface="游ゴシック"/>
              </a:defRPr>
            </a:pPr>
            <a:r>
              <a:rPr sz="1650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五感と経験から
言葉になる前の違和感に気づく
現場で判断し、センスを磨ける</a:t>
            </a:r>
          </a:p>
        </p:txBody>
      </p:sp>
      <p:sp>
        <p:nvSpPr>
          <p:cNvPr id="6" name="ai-input">
            <a:extLst xmlns:a="http://schemas.openxmlformats.org/drawingml/2006/main">
              <a:ext uri="{FF2B5EF4-FFF2-40B4-BE49-F238E27FC236}">
                <a16:creationId xmlns:a16="http://schemas.microsoft.com/office/drawing/2014/main" id="{83C86CA4-A76A-46CE-8353-124B2458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2197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09550" tIns="152400" rIns="209550" bIns="1524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游ゴシック"/>
                <a:ea typeface="游ゴシック"/>
                <a:cs typeface="游ゴシック"/>
              </a:defRPr>
            </a:pPr>
            <a:r>
              <a:rPr sz="2025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AIが見られるもの</a:t>
            </a:r>
          </a:p>
          <a:p xmlns:a="http://schemas.openxmlformats.org/drawingml/2006/main">
            <a:pPr>
              <a:buNone/>
              <a:defRPr>
                <a:latin typeface="游ゴシック"/>
                <a:ea typeface="游ゴシック"/>
                <a:cs typeface="游ゴシック"/>
              </a:defRPr>
            </a:pPr>
            <a:r>
              <a:rPr sz="165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入力されたデータと言葉
言語化されない違和感には
自動では気づけない</a:t>
            </a:r>
          </a:p>
        </p:txBody>
      </p:sp>
      <p:sp>
        <p:nvSpPr>
          <p:cNvPr id="7" name="sense-language-callout">
            <a:extLst xmlns:a="http://schemas.openxmlformats.org/drawingml/2006/main">
              <a:ext uri="{FF2B5EF4-FFF2-40B4-BE49-F238E27FC236}">
                <a16:creationId xmlns:a16="http://schemas.microsoft.com/office/drawing/2014/main" id="{FFEB439C-F9DD-47B9-BC4D-0DED2613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8763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E5957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875" b="1">
                <a:solidFill>
                  <a:srgbClr val="CE5957"/>
                </a:solidFill>
                <a:latin typeface="游ゴシック"/>
                <a:ea typeface="游ゴシック"/>
                <a:cs typeface="游ゴシック"/>
              </a:rPr>
              <a:t>言語化は難しい。でも不可能ではない。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CE5957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875" b="1">
                <a:solidFill>
                  <a:srgbClr val="CE5957"/>
                </a:solidFill>
                <a:latin typeface="游ゴシック"/>
                <a:ea typeface="游ゴシック"/>
                <a:cs typeface="游ゴシック"/>
              </a:rPr>
              <a:t>言葉にすれば、センスはAIへ渡せる。</a:t>
            </a:r>
          </a:p>
        </p:txBody>
      </p:sp>
    </p:spTree>
    <p:extLst>
      <p:ext uri="{BB962C8B-B14F-4D97-AF65-F5344CB8AC3E}">
        <p14:creationId xmlns:p14="http://schemas.microsoft.com/office/powerpoint/2010/main" val="3722257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5386CD39-55B8-B28A-0D62-14C7B839A4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AIにはセンスがあるのか？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3BEFFFDD-FCC9-D8C8-B65D-FD14962180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43C20B8F-57B8-DF6D-02C6-2494E3EAA67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人間と同じセンスではない。でも、センスらしい出力はつくれる。</a:t>
            </a:r>
          </a:p>
        </p:txBody>
      </p:sp>
      <p:sp>
        <p:nvSpPr>
          <p:cNvPr id="5" name="ai-sense-question">
            <a:extLst xmlns:a="http://schemas.openxmlformats.org/drawingml/2006/main">
              <a:ext uri="{FF2B5EF4-FFF2-40B4-BE49-F238E27FC236}">
                <a16:creationId xmlns:a16="http://schemas.microsoft.com/office/drawing/2014/main" id="{85A63826-C98E-4294-94D2-8707C067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09750"/>
            <a:ext cx="7429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02C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315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同じ『センス』と</a:t>
            </a:r>
          </a:p>
          <a:p xmlns:a="http://schemas.openxmlformats.org/drawingml/2006/main">
            <a:pPr algn="ctr">
              <a:buNone/>
              <a:defRPr sz="315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315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呼んでいいだろうか？</a:t>
            </a:r>
          </a:p>
        </p:txBody>
      </p:sp>
      <p:sp>
        <p:nvSpPr>
          <p:cNvPr id="6" name="human-sense-side">
            <a:extLst xmlns:a="http://schemas.openxmlformats.org/drawingml/2006/main">
              <a:ext uri="{FF2B5EF4-FFF2-40B4-BE49-F238E27FC236}">
                <a16:creationId xmlns:a16="http://schemas.microsoft.com/office/drawing/2014/main" id="{A7CE26B4-4AE4-4471-BD89-2119CC7A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4095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19050">
            <a:solidFill>
              <a:srgbClr val="4CB5F5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875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人間のセンス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875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経験・好み・五感が積み重なる</a:t>
            </a:r>
          </a:p>
        </p:txBody>
      </p:sp>
      <p:sp>
        <p:nvSpPr>
          <p:cNvPr id="7" name="sense-not-equal">
            <a:extLst xmlns:a="http://schemas.openxmlformats.org/drawingml/2006/main">
              <a:ext uri="{FF2B5EF4-FFF2-40B4-BE49-F238E27FC236}">
                <a16:creationId xmlns:a16="http://schemas.microsoft.com/office/drawing/2014/main" id="{9F20F354-85B4-4315-BE66-8B35A398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048125"/>
            <a:ext cx="104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CE5957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3600" b="1">
                <a:solidFill>
                  <a:srgbClr val="CE5957"/>
                </a:solidFill>
                <a:latin typeface="游ゴシック"/>
                <a:ea typeface="游ゴシック"/>
                <a:cs typeface="游ゴシック"/>
              </a:rPr>
              <a:t>≠</a:t>
            </a:r>
          </a:p>
        </p:txBody>
      </p:sp>
      <p:sp>
        <p:nvSpPr>
          <p:cNvPr id="8" name="ai-sense-side">
            <a:extLst xmlns:a="http://schemas.openxmlformats.org/drawingml/2006/main">
              <a:ext uri="{FF2B5EF4-FFF2-40B4-BE49-F238E27FC236}">
                <a16:creationId xmlns:a16="http://schemas.microsoft.com/office/drawing/2014/main" id="{7F8B0042-5B31-4FB3-9F8A-B3D77110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57625"/>
            <a:ext cx="4095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19050">
            <a:solidFill>
              <a:srgbClr val="4CB5F5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875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AIの『センスらしさ』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875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データ・言葉・パターンを学ぶ</a:t>
            </a:r>
          </a:p>
        </p:txBody>
      </p:sp>
    </p:spTree>
    <p:extLst>
      <p:ext uri="{BB962C8B-B14F-4D97-AF65-F5344CB8AC3E}">
        <p14:creationId xmlns:p14="http://schemas.microsoft.com/office/powerpoint/2010/main" val="3722257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5386CD39-55B8-B28A-0D62-14C7B839A4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AIは入力された世界しか見えない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3BEFFFDD-FCC9-D8C8-B65D-FD14962180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43C20B8F-57B8-DF6D-02C6-2494E3EAA67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AIはデータと言葉から学ぶ。現場を五感で生きてはいない。</a:t>
            </a:r>
          </a:p>
        </p:txBody>
      </p:sp>
      <p:sp>
        <p:nvSpPr>
          <p:cNvPr id="5" name="learn-arrow-0">
            <a:extLst xmlns:a="http://schemas.openxmlformats.org/drawingml/2006/main">
              <a:ext uri="{FF2B5EF4-FFF2-40B4-BE49-F238E27FC236}">
                <a16:creationId xmlns:a16="http://schemas.microsoft.com/office/drawing/2014/main" id="{CB38D0D8-C9AA-4219-ACDA-3722D43D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857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B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earn-arrow-1">
            <a:extLst xmlns:a="http://schemas.openxmlformats.org/drawingml/2006/main">
              <a:ext uri="{FF2B5EF4-FFF2-40B4-BE49-F238E27FC236}">
                <a16:creationId xmlns:a16="http://schemas.microsoft.com/office/drawing/2014/main" id="{C73FF505-D6B1-402E-8A83-48FD096F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57500"/>
            <a:ext cx="857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B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earn-node-0">
            <a:extLst xmlns:a="http://schemas.openxmlformats.org/drawingml/2006/main">
              <a:ext uri="{FF2B5EF4-FFF2-40B4-BE49-F238E27FC236}">
                <a16:creationId xmlns:a16="http://schemas.microsoft.com/office/drawing/2014/main" id="{B515E360-71B8-4A95-B7A3-4C2A9F9E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43125"/>
            <a:ext cx="2667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19050">
            <a:solidFill>
              <a:srgbClr val="4CB5F5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95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入力された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95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データと言葉</a:t>
            </a:r>
          </a:p>
        </p:txBody>
      </p:sp>
      <p:sp>
        <p:nvSpPr>
          <p:cNvPr id="8" name="learn-node-1">
            <a:extLst xmlns:a="http://schemas.openxmlformats.org/drawingml/2006/main">
              <a:ext uri="{FF2B5EF4-FFF2-40B4-BE49-F238E27FC236}">
                <a16:creationId xmlns:a16="http://schemas.microsoft.com/office/drawing/2014/main" id="{DE35169A-C1A7-40C2-AD3F-FF4E2DAD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143125"/>
            <a:ext cx="2667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19050">
            <a:solidFill>
              <a:srgbClr val="4CB5F5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95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規則性・パターンを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95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学ぶ</a:t>
            </a:r>
          </a:p>
        </p:txBody>
      </p:sp>
      <p:sp>
        <p:nvSpPr>
          <p:cNvPr id="9" name="learn-node-2">
            <a:extLst xmlns:a="http://schemas.openxmlformats.org/drawingml/2006/main">
              <a:ext uri="{FF2B5EF4-FFF2-40B4-BE49-F238E27FC236}">
                <a16:creationId xmlns:a16="http://schemas.microsoft.com/office/drawing/2014/main" id="{781CB275-5880-4B8F-91A5-AB9A4EC0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43125"/>
            <a:ext cx="2667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02C54"/>
          </a:solidFill>
          <a:ln xmlns:a="http://schemas.openxmlformats.org/drawingml/2006/main" w="19050">
            <a:solidFill>
              <a:srgbClr val="002C54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95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もっともらしい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95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出力をつくる</a:t>
            </a:r>
          </a:p>
        </p:txBody>
      </p:sp>
      <p:sp>
        <p:nvSpPr>
          <p:cNvPr id="10" name="unseen-sense">
            <a:extLst xmlns:a="http://schemas.openxmlformats.org/drawingml/2006/main">
              <a:ext uri="{FF2B5EF4-FFF2-40B4-BE49-F238E27FC236}">
                <a16:creationId xmlns:a16="http://schemas.microsoft.com/office/drawing/2014/main" id="{881A885F-1A21-452C-A255-4E0D2D7A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38625"/>
            <a:ext cx="8763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1F0"/>
          </a:solidFill>
          <a:ln xmlns:a="http://schemas.openxmlformats.org/drawingml/2006/main" w="19050">
            <a:solidFill>
              <a:srgbClr val="CE5957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CE5957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950" b="1">
                <a:solidFill>
                  <a:srgbClr val="CE5957"/>
                </a:solidFill>
                <a:latin typeface="游ゴシック"/>
                <a:ea typeface="游ゴシック"/>
                <a:cs typeface="游ゴシック"/>
              </a:rPr>
              <a:t>言語化されない違和感・空気・身体感覚</a:t>
            </a:r>
          </a:p>
        </p:txBody>
      </p:sp>
      <p:sp>
        <p:nvSpPr>
          <p:cNvPr id="11" name="learning-limit">
            <a:extLst xmlns:a="http://schemas.openxmlformats.org/drawingml/2006/main">
              <a:ext uri="{FF2B5EF4-FFF2-40B4-BE49-F238E27FC236}">
                <a16:creationId xmlns:a16="http://schemas.microsoft.com/office/drawing/2014/main" id="{C2D1ED0B-B028-46F9-A188-FFB1197E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0062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80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AIには自動で届かない。だから現場でセンスを磨くのは難しい。</a:t>
            </a:r>
          </a:p>
        </p:txBody>
      </p:sp>
    </p:spTree>
    <p:extLst>
      <p:ext uri="{BB962C8B-B14F-4D97-AF65-F5344CB8AC3E}">
        <p14:creationId xmlns:p14="http://schemas.microsoft.com/office/powerpoint/2010/main" val="37222576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5386CD39-55B8-B28A-0D62-14C7B839A4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『それらしい』と『本質的』は違う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3BEFFFDD-FCC9-D8C8-B65D-FD14962180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43C20B8F-57B8-DF6D-02C6-2494E3EAA67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素人にはすごく見えても、専門家にはズレが見えることがある。</a:t>
            </a:r>
          </a:p>
        </p:txBody>
      </p:sp>
      <p:sp>
        <p:nvSpPr>
          <p:cNvPr id="5" name="novice-label">
            <a:extLst xmlns:a="http://schemas.openxmlformats.org/drawingml/2006/main">
              <a:ext uri="{FF2B5EF4-FFF2-40B4-BE49-F238E27FC236}">
                <a16:creationId xmlns:a16="http://schemas.microsoft.com/office/drawing/2014/main" id="{47C35127-D29C-40C8-ACA9-B3860006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2025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素人の目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c170ae2af4b04"/>
          <a:stretch xmlns:a="http://schemas.openxmlformats.org/drawingml/2006/main"/>
        </p:blipFill>
        <p:spPr>
          <a:xfrm xmlns:a="http://schemas.openxmlformats.org/drawingml/2006/main">
            <a:off x="666750" y="2147943"/>
            <a:ext cx="2952750" cy="2133490"/>
          </a:xfrm>
          <a:prstGeom xmlns:a="http://schemas.openxmlformats.org/drawingml/2006/main" prst="rect">
            <a:avLst/>
          </a:prstGeom>
        </p:spPr>
      </p:pic>
      <p:sp>
        <p:nvSpPr>
          <p:cNvPr id="7" name="novice-comment">
            <a:extLst xmlns:a="http://schemas.openxmlformats.org/drawingml/2006/main">
              <a:ext uri="{FF2B5EF4-FFF2-40B4-BE49-F238E27FC236}">
                <a16:creationId xmlns:a16="http://schemas.microsoft.com/office/drawing/2014/main" id="{57F1943B-742D-462D-ACBD-7EA42A34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2667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19050">
            <a:solidFill>
              <a:srgbClr val="4CB5F5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210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『すごそう！』</a:t>
            </a:r>
          </a:p>
        </p:txBody>
      </p:sp>
      <p:sp>
        <p:nvSpPr>
          <p:cNvPr id="8" name="plausible-output">
            <a:extLst xmlns:a="http://schemas.openxmlformats.org/drawingml/2006/main">
              <a:ext uri="{FF2B5EF4-FFF2-40B4-BE49-F238E27FC236}">
                <a16:creationId xmlns:a16="http://schemas.microsoft.com/office/drawing/2014/main" id="{6A0F5EE8-0950-4537-9F51-B72B77E8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95500"/>
            <a:ext cx="3810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002C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2775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AIの</a:t>
            </a:r>
          </a:p>
          <a:p xmlns:a="http://schemas.openxmlformats.org/drawingml/2006/main">
            <a:pPr algn="ctr">
              <a:buNone/>
              <a:defRPr sz="2775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2775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もっともらしい</a:t>
            </a:r>
          </a:p>
          <a:p xmlns:a="http://schemas.openxmlformats.org/drawingml/2006/main">
            <a:pPr algn="ctr">
              <a:buNone/>
              <a:defRPr sz="2775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2775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成果物</a:t>
            </a:r>
          </a:p>
        </p:txBody>
      </p:sp>
      <p:sp>
        <p:nvSpPr>
          <p:cNvPr id="9" name="expert-label">
            <a:extLst xmlns:a="http://schemas.openxmlformats.org/drawingml/2006/main">
              <a:ext uri="{FF2B5EF4-FFF2-40B4-BE49-F238E27FC236}">
                <a16:creationId xmlns:a16="http://schemas.microsoft.com/office/drawing/2014/main" id="{8AF82855-5DDB-4442-BD0C-E0AC18E5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14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2025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専門家の目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88222ba9824f11"/>
          <a:stretch xmlns:a="http://schemas.openxmlformats.org/drawingml/2006/main"/>
        </p:blipFill>
        <p:spPr>
          <a:xfrm xmlns:a="http://schemas.openxmlformats.org/drawingml/2006/main">
            <a:off x="8759777" y="2143125"/>
            <a:ext cx="2578195" cy="2143125"/>
          </a:xfrm>
          <a:prstGeom xmlns:a="http://schemas.openxmlformats.org/drawingml/2006/main" prst="rect">
            <a:avLst/>
          </a:prstGeom>
        </p:spPr>
      </p:pic>
      <p:sp>
        <p:nvSpPr>
          <p:cNvPr id="11" name="expert-comment">
            <a:extLst xmlns:a="http://schemas.openxmlformats.org/drawingml/2006/main">
              <a:ext uri="{FF2B5EF4-FFF2-40B4-BE49-F238E27FC236}">
                <a16:creationId xmlns:a16="http://schemas.microsoft.com/office/drawing/2014/main" id="{E7FD46E9-2BFE-4A30-A987-34CE6C5E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33875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19050">
            <a:solidFill>
              <a:srgbClr val="4CB5F5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97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65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前提・文脈・判断基準の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65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ズレが見える</a:t>
            </a:r>
          </a:p>
        </p:txBody>
      </p:sp>
      <p:sp>
        <p:nvSpPr>
          <p:cNvPr id="12" name="essence-gap">
            <a:extLst xmlns:a="http://schemas.openxmlformats.org/drawingml/2006/main">
              <a:ext uri="{FF2B5EF4-FFF2-40B4-BE49-F238E27FC236}">
                <a16:creationId xmlns:a16="http://schemas.microsoft.com/office/drawing/2014/main" id="{509228D9-62D0-4708-9B28-CA7C6152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91125"/>
            <a:ext cx="704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E5957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2100" b="1">
                <a:solidFill>
                  <a:srgbClr val="CE5957"/>
                </a:solidFill>
                <a:latin typeface="游ゴシック"/>
                <a:ea typeface="游ゴシック"/>
                <a:cs typeface="游ゴシック"/>
              </a:rPr>
              <a:t>見た目の完成度  ≠  本質的な正しさ</a:t>
            </a:r>
          </a:p>
        </p:txBody>
      </p:sp>
    </p:spTree>
    <p:extLst>
      <p:ext uri="{BB962C8B-B14F-4D97-AF65-F5344CB8AC3E}">
        <p14:creationId xmlns:p14="http://schemas.microsoft.com/office/powerpoint/2010/main" val="37222576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5386CD39-55B8-B28A-0D62-14C7B839A4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AI様にセンスを納品する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3BEFFFDD-FCC9-D8C8-B65D-FD14962180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43C20B8F-57B8-DF6D-02C6-2494E3EAA67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会社固有の判断基準は、言語化して初めてAIへ渡せる。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aa43f9e9ce4d6f"/>
          <a:stretch xmlns:a="http://schemas.openxmlformats.org/drawingml/2006/main"/>
        </p:blipFill>
        <p:spPr>
          <a:xfrm xmlns:a="http://schemas.openxmlformats.org/drawingml/2006/main">
            <a:off x="2921000" y="1476375"/>
            <a:ext cx="635000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2576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5386CD39-55B8-B28A-0D62-14C7B839A4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これが、いまの会社の現状です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3BEFFFDD-FCC9-D8C8-B65D-FD14962180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43C20B8F-57B8-DF6D-02C6-2494E3EAA67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AIから見えない場所に情報と判断基準が散らばっている。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55153233647dc"/>
          <a:stretch xmlns:a="http://schemas.openxmlformats.org/drawingml/2006/main"/>
        </p:blipFill>
        <p:spPr>
          <a:xfrm xmlns:a="http://schemas.openxmlformats.org/drawingml/2006/main">
            <a:off x="1143000" y="1524000"/>
            <a:ext cx="6096000" cy="4572000"/>
          </a:xfrm>
          <a:prstGeom xmlns:a="http://schemas.openxmlformats.org/drawingml/2006/main" prst="rect">
            <a:avLst/>
          </a:prstGeom>
        </p:spPr>
      </p:pic>
      <p:sp>
        <p:nvSpPr>
          <p:cNvPr id="6" name="current-cause">
            <a:extLst xmlns:a="http://schemas.openxmlformats.org/drawingml/2006/main">
              <a:ext uri="{FF2B5EF4-FFF2-40B4-BE49-F238E27FC236}">
                <a16:creationId xmlns:a16="http://schemas.microsoft.com/office/drawing/2014/main" id="{103B0F73-4F3F-4653-A28F-68F80CDD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3048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E5957"/>
          </a:solidFill>
          <a:ln xmlns:a="http://schemas.openxmlformats.org/drawingml/2006/main" w="9525">
            <a:solidFill>
              <a:srgbClr val="CE5957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2175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原因</a:t>
            </a:r>
          </a:p>
        </p:txBody>
      </p:sp>
      <p:sp>
        <p:nvSpPr>
          <p:cNvPr id="7" name="current-cause-list">
            <a:extLst xmlns:a="http://schemas.openxmlformats.org/drawingml/2006/main">
              <a:ext uri="{FF2B5EF4-FFF2-40B4-BE49-F238E27FC236}">
                <a16:creationId xmlns:a16="http://schemas.microsoft.com/office/drawing/2014/main" id="{308BE18A-97E2-41F5-ADD6-04FFC0B8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67000"/>
            <a:ext cx="3048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1F0"/>
          </a:solidFill>
          <a:ln xmlns:a="http://schemas.openxmlformats.org/drawingml/2006/main" w="19050">
            <a:solidFill>
              <a:srgbClr val="CE5957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80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・業務が言語化されず、</a:t>
            </a:r>
          </a:p>
          <a:p xmlns:a="http://schemas.openxmlformats.org/drawingml/2006/main">
            <a:pPr>
              <a:buNone/>
              <a:defRPr sz="180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80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　属人化している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80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・情報が一元管理</a:t>
            </a:r>
          </a:p>
          <a:p xmlns:a="http://schemas.openxmlformats.org/drawingml/2006/main">
            <a:pPr>
              <a:buNone/>
              <a:defRPr sz="180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80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　されていない</a:t>
            </a:r>
          </a:p>
        </p:txBody>
      </p:sp>
      <p:sp>
        <p:nvSpPr>
          <p:cNvPr id="8" name="current-caption">
            <a:extLst xmlns:a="http://schemas.openxmlformats.org/drawingml/2006/main">
              <a:ext uri="{FF2B5EF4-FFF2-40B4-BE49-F238E27FC236}">
                <a16:creationId xmlns:a16="http://schemas.microsoft.com/office/drawing/2014/main" id="{9C3B6770-3BF1-4478-9FB7-6AEC20E0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9112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CE5957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725" b="1">
                <a:solidFill>
                  <a:srgbClr val="CE5957"/>
                </a:solidFill>
                <a:latin typeface="游ゴシック"/>
                <a:ea typeface="游ゴシック"/>
                <a:cs typeface="游ゴシック"/>
              </a:rPr>
              <a:t>AI様は『参照不可』のまま</a:t>
            </a:r>
          </a:p>
        </p:txBody>
      </p:sp>
    </p:spTree>
    <p:extLst>
      <p:ext uri="{BB962C8B-B14F-4D97-AF65-F5344CB8AC3E}">
        <p14:creationId xmlns:p14="http://schemas.microsoft.com/office/powerpoint/2010/main" val="37222576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5386CD39-55B8-B28A-0D62-14C7B839A4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PDCAが簡単になる世界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3BEFFFDD-FCC9-D8C8-B65D-FD14962180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43C20B8F-57B8-DF6D-02C6-2494E3EAA67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AI様の力で、実行と確認を高速に回せる。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05869b95c4c24"/>
          <a:stretch xmlns:a="http://schemas.openxmlformats.org/drawingml/2006/main"/>
        </p:blipFill>
        <p:spPr>
          <a:xfrm xmlns:a="http://schemas.openxmlformats.org/drawingml/2006/main">
            <a:off x="2921000" y="1476375"/>
            <a:ext cx="635000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2576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5386CD39-55B8-B28A-0D62-14C7B839A4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DoとCheckはAIに任せる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3BEFFFDD-FCC9-D8C8-B65D-FD14962180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43C20B8F-57B8-DF6D-02C6-2494E3EAA67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作る・調べる・比べる・確認する。作業の反復はAIが得意。</a:t>
            </a:r>
          </a:p>
        </p:txBody>
      </p:sp>
      <p:sp>
        <p:nvSpPr>
          <p:cNvPr id="5" name="do-letter">
            <a:extLst xmlns:a="http://schemas.openxmlformats.org/drawingml/2006/main">
              <a:ext uri="{FF2B5EF4-FFF2-40B4-BE49-F238E27FC236}">
                <a16:creationId xmlns:a16="http://schemas.microsoft.com/office/drawing/2014/main" id="{FA566A15-D871-441F-98DC-C0CBFE11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B5F5"/>
          </a:solidFill>
          <a:ln xmlns:a="http://schemas.openxmlformats.org/drawingml/2006/main" w="19050">
            <a:solidFill>
              <a:srgbClr val="207CA3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570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D</a:t>
            </a:r>
          </a:p>
        </p:txBody>
      </p:sp>
      <p:sp>
        <p:nvSpPr>
          <p:cNvPr id="6" name="do-body">
            <a:extLst xmlns:a="http://schemas.openxmlformats.org/drawingml/2006/main">
              <a:ext uri="{FF2B5EF4-FFF2-40B4-BE49-F238E27FC236}">
                <a16:creationId xmlns:a16="http://schemas.microsoft.com/office/drawing/2014/main" id="{7A4F2078-0017-497B-AEE1-3165927E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875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Do｜実行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875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調査・加工・作成</a:t>
            </a:r>
          </a:p>
        </p:txBody>
      </p:sp>
      <p:sp>
        <p:nvSpPr>
          <p:cNvPr id="7" name="check-letter">
            <a:extLst xmlns:a="http://schemas.openxmlformats.org/drawingml/2006/main">
              <a:ext uri="{FF2B5EF4-FFF2-40B4-BE49-F238E27FC236}">
                <a16:creationId xmlns:a16="http://schemas.microsoft.com/office/drawing/2014/main" id="{AC7C54DD-729D-4ABA-8336-254CDE9F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B5F5"/>
          </a:solidFill>
          <a:ln xmlns:a="http://schemas.openxmlformats.org/drawingml/2006/main" w="19050">
            <a:solidFill>
              <a:srgbClr val="207CA3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570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C</a:t>
            </a:r>
          </a:p>
        </p:txBody>
      </p:sp>
      <p:sp>
        <p:nvSpPr>
          <p:cNvPr id="8" name="check-body">
            <a:extLst xmlns:a="http://schemas.openxmlformats.org/drawingml/2006/main">
              <a:ext uri="{FF2B5EF4-FFF2-40B4-BE49-F238E27FC236}">
                <a16:creationId xmlns:a16="http://schemas.microsoft.com/office/drawing/2014/main" id="{06ACAA8D-09DD-4B70-A6C8-5F2F846D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0525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875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Check｜確認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875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比較・検証・課題検出</a:t>
            </a:r>
          </a:p>
        </p:txBody>
      </p:sp>
      <p:sp>
        <p:nvSpPr>
          <p:cNvPr id="9" name="ai-dc-role">
            <a:extLst xmlns:a="http://schemas.openxmlformats.org/drawingml/2006/main">
              <a:ext uri="{FF2B5EF4-FFF2-40B4-BE49-F238E27FC236}">
                <a16:creationId xmlns:a16="http://schemas.microsoft.com/office/drawing/2014/main" id="{0446E3F3-3299-4F02-9687-7E91C4F8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3714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09550" tIns="152400" rIns="209550" bIns="1524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游ゴシック"/>
                <a:ea typeface="游ゴシック"/>
                <a:cs typeface="游ゴシック"/>
              </a:defRPr>
            </a:pPr>
            <a:r>
              <a:rPr sz="2025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AI様の担当</a:t>
            </a:r>
          </a:p>
          <a:p xmlns:a="http://schemas.openxmlformats.org/drawingml/2006/main">
            <a:pPr>
              <a:buNone/>
              <a:defRPr>
                <a:latin typeface="游ゴシック"/>
                <a:ea typeface="游ゴシック"/>
                <a:cs typeface="游ゴシック"/>
              </a:defRPr>
            </a:pPr>
            <a:r>
              <a:rPr sz="165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速く作る
何度も比べる
見落とし候補を探す</a:t>
            </a:r>
          </a:p>
        </p:txBody>
      </p:sp>
      <p:sp>
        <p:nvSpPr>
          <p:cNvPr id="10" name="dc-caution">
            <a:extLst xmlns:a="http://schemas.openxmlformats.org/drawingml/2006/main">
              <a:ext uri="{FF2B5EF4-FFF2-40B4-BE49-F238E27FC236}">
                <a16:creationId xmlns:a16="http://schemas.microsoft.com/office/drawing/2014/main" id="{513F83C8-F619-4E57-A7F7-7D1DD0F0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91125"/>
            <a:ext cx="742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CE5957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725" b="1">
                <a:solidFill>
                  <a:srgbClr val="CE5957"/>
                </a:solidFill>
                <a:latin typeface="游ゴシック"/>
                <a:ea typeface="游ゴシック"/>
                <a:cs typeface="游ゴシック"/>
              </a:rPr>
              <a:t>最終確認と責任までAIへ渡すわけではない</a:t>
            </a:r>
          </a:p>
        </p:txBody>
      </p:sp>
    </p:spTree>
    <p:extLst>
      <p:ext uri="{BB962C8B-B14F-4D97-AF65-F5344CB8AC3E}">
        <p14:creationId xmlns:p14="http://schemas.microsoft.com/office/powerpoint/2010/main" val="37222576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5386CD39-55B8-B28A-0D62-14C7B839A4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PlanとActにセンスが光る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3BEFFFDD-FCC9-D8C8-B65D-FD14962180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43C20B8F-57B8-DF6D-02C6-2494E3EAA67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何を良しとするか決め、違和感から基準を更新するのは人間。</a:t>
            </a:r>
          </a:p>
        </p:txBody>
      </p:sp>
      <p:sp>
        <p:nvSpPr>
          <p:cNvPr id="5" name="plan-letter">
            <a:extLst xmlns:a="http://schemas.openxmlformats.org/drawingml/2006/main">
              <a:ext uri="{FF2B5EF4-FFF2-40B4-BE49-F238E27FC236}">
                <a16:creationId xmlns:a16="http://schemas.microsoft.com/office/drawing/2014/main" id="{2DBE7F09-0FA9-4903-8E44-E2577905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002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C54"/>
          </a:solidFill>
          <a:ln xmlns:a="http://schemas.openxmlformats.org/drawingml/2006/main" w="19050">
            <a:solidFill>
              <a:srgbClr val="002C54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570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P</a:t>
            </a:r>
          </a:p>
        </p:txBody>
      </p:sp>
      <p:sp>
        <p:nvSpPr>
          <p:cNvPr id="6" name="plan-body">
            <a:extLst xmlns:a="http://schemas.openxmlformats.org/drawingml/2006/main">
              <a:ext uri="{FF2B5EF4-FFF2-40B4-BE49-F238E27FC236}">
                <a16:creationId xmlns:a16="http://schemas.microsoft.com/office/drawing/2014/main" id="{A2AE07F1-3FCD-4ED1-9BB9-F6821BB5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9052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65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Plan｜計画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65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問いと良し悪しを決める</a:t>
            </a:r>
          </a:p>
        </p:txBody>
      </p:sp>
      <p:sp>
        <p:nvSpPr>
          <p:cNvPr id="7" name="act-letter">
            <a:extLst xmlns:a="http://schemas.openxmlformats.org/drawingml/2006/main">
              <a:ext uri="{FF2B5EF4-FFF2-40B4-BE49-F238E27FC236}">
                <a16:creationId xmlns:a16="http://schemas.microsoft.com/office/drawing/2014/main" id="{16285C26-E5C1-4F79-91C4-7C60AC60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C54"/>
          </a:solidFill>
          <a:ln xmlns:a="http://schemas.openxmlformats.org/drawingml/2006/main" w="19050">
            <a:solidFill>
              <a:srgbClr val="002C54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570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A</a:t>
            </a:r>
          </a:p>
        </p:txBody>
      </p:sp>
      <p:sp>
        <p:nvSpPr>
          <p:cNvPr id="8" name="act-body">
            <a:extLst xmlns:a="http://schemas.openxmlformats.org/drawingml/2006/main">
              <a:ext uri="{FF2B5EF4-FFF2-40B4-BE49-F238E27FC236}">
                <a16:creationId xmlns:a16="http://schemas.microsoft.com/office/drawing/2014/main" id="{95E19214-6A3B-47F8-9637-B47EF216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90525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80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Act｜改善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80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違和感から基準を更新</a:t>
            </a:r>
          </a:p>
        </p:txBody>
      </p:sp>
      <p:sp>
        <p:nvSpPr>
          <p:cNvPr id="9" name="human-pa-role">
            <a:extLst xmlns:a="http://schemas.openxmlformats.org/drawingml/2006/main">
              <a:ext uri="{FF2B5EF4-FFF2-40B4-BE49-F238E27FC236}">
                <a16:creationId xmlns:a16="http://schemas.microsoft.com/office/drawing/2014/main" id="{6D51BCA9-9F92-4883-BA9B-B593DA14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3714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09550" tIns="152400" rIns="209550" bIns="1524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游ゴシック"/>
                <a:ea typeface="游ゴシック"/>
                <a:cs typeface="游ゴシック"/>
              </a:defRPr>
            </a:pPr>
            <a:r>
              <a:rPr sz="2025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人間の担当</a:t>
            </a:r>
          </a:p>
          <a:p xmlns:a="http://schemas.openxmlformats.org/drawingml/2006/main">
            <a:pPr>
              <a:buNone/>
              <a:defRPr>
                <a:latin typeface="游ゴシック"/>
                <a:ea typeface="游ゴシック"/>
                <a:cs typeface="游ゴシック"/>
              </a:defRPr>
            </a:pPr>
            <a:r>
              <a:rPr sz="1650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何を解くか問う
何を良しとするか決める
経験から次の基準をつくる</a:t>
            </a:r>
          </a:p>
        </p:txBody>
      </p:sp>
      <p:sp>
        <p:nvSpPr>
          <p:cNvPr id="10" name="pa-differentiator">
            <a:extLst xmlns:a="http://schemas.openxmlformats.org/drawingml/2006/main">
              <a:ext uri="{FF2B5EF4-FFF2-40B4-BE49-F238E27FC236}">
                <a16:creationId xmlns:a16="http://schemas.microsoft.com/office/drawing/2014/main" id="{D3BEC4CD-88AC-4D21-BAFF-DA294561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91125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CE5957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2025" b="1">
                <a:solidFill>
                  <a:srgbClr val="CE5957"/>
                </a:solidFill>
                <a:latin typeface="游ゴシック"/>
                <a:ea typeface="游ゴシック"/>
                <a:cs typeface="游ゴシック"/>
              </a:rPr>
              <a:t>PとAの質が、会社の差別化になる</a:t>
            </a:r>
          </a:p>
        </p:txBody>
      </p:sp>
    </p:spTree>
    <p:extLst>
      <p:ext uri="{BB962C8B-B14F-4D97-AF65-F5344CB8AC3E}">
        <p14:creationId xmlns:p14="http://schemas.microsoft.com/office/powerpoint/2010/main" val="37222576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5386CD39-55B8-B28A-0D62-14C7B839A4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ChatGPTと壁打ちして言葉にする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3BEFFFDD-FCC9-D8C8-B65D-FD14962180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43C20B8F-57B8-DF6D-02C6-2494E3EAA67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違和感や判断を対話で掘り、AIと仲間が使える知識として残す。</a:t>
            </a:r>
          </a:p>
        </p:txBody>
      </p:sp>
      <p:sp>
        <p:nvSpPr>
          <p:cNvPr id="5" name="chatgpt-arrow-0">
            <a:extLst xmlns:a="http://schemas.openxmlformats.org/drawingml/2006/main">
              <a:ext uri="{FF2B5EF4-FFF2-40B4-BE49-F238E27FC236}">
                <a16:creationId xmlns:a16="http://schemas.microsoft.com/office/drawing/2014/main" id="{B703E819-1476-4E5C-8264-AA276780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48000"/>
            <a:ext cx="42862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B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hatgpt-arrow-1">
            <a:extLst xmlns:a="http://schemas.openxmlformats.org/drawingml/2006/main">
              <a:ext uri="{FF2B5EF4-FFF2-40B4-BE49-F238E27FC236}">
                <a16:creationId xmlns:a16="http://schemas.microsoft.com/office/drawing/2014/main" id="{704CC2AB-0DFB-423E-9277-ABB9EE6B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48000"/>
            <a:ext cx="42862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B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hatgpt-arrow-2">
            <a:extLst xmlns:a="http://schemas.openxmlformats.org/drawingml/2006/main">
              <a:ext uri="{FF2B5EF4-FFF2-40B4-BE49-F238E27FC236}">
                <a16:creationId xmlns:a16="http://schemas.microsoft.com/office/drawing/2014/main" id="{95E1A590-454B-4411-9610-9FEEA34A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48000"/>
            <a:ext cx="42862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B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hatgpt-arrow-3">
            <a:extLst xmlns:a="http://schemas.openxmlformats.org/drawingml/2006/main">
              <a:ext uri="{FF2B5EF4-FFF2-40B4-BE49-F238E27FC236}">
                <a16:creationId xmlns:a16="http://schemas.microsoft.com/office/drawing/2014/main" id="{6967275B-396D-46ED-92C1-A106AF9F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48000"/>
            <a:ext cx="42862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B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hatgpt-node-0">
            <a:extLst xmlns:a="http://schemas.openxmlformats.org/drawingml/2006/main">
              <a:ext uri="{FF2B5EF4-FFF2-40B4-BE49-F238E27FC236}">
                <a16:creationId xmlns:a16="http://schemas.microsoft.com/office/drawing/2014/main" id="{EB2292A5-0D81-43FF-8724-04E7B735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33625"/>
            <a:ext cx="1905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19050">
            <a:solidFill>
              <a:srgbClr val="4CB5F5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65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違和感・判断</a:t>
            </a:r>
          </a:p>
        </p:txBody>
      </p:sp>
      <p:sp>
        <p:nvSpPr>
          <p:cNvPr id="10" name="chatgpt-node-1">
            <a:extLst xmlns:a="http://schemas.openxmlformats.org/drawingml/2006/main">
              <a:ext uri="{FF2B5EF4-FFF2-40B4-BE49-F238E27FC236}">
                <a16:creationId xmlns:a16="http://schemas.microsoft.com/office/drawing/2014/main" id="{FA2FC8D0-2728-4D47-AC4F-6686CA66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33625"/>
            <a:ext cx="1905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02C54"/>
          </a:solidFill>
          <a:ln xmlns:a="http://schemas.openxmlformats.org/drawingml/2006/main" w="19050">
            <a:solidFill>
              <a:srgbClr val="002C54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65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ChatGPTに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65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壁打ち</a:t>
            </a:r>
          </a:p>
        </p:txBody>
      </p:sp>
      <p:sp>
        <p:nvSpPr>
          <p:cNvPr id="11" name="chatgpt-node-2">
            <a:extLst xmlns:a="http://schemas.openxmlformats.org/drawingml/2006/main">
              <a:ext uri="{FF2B5EF4-FFF2-40B4-BE49-F238E27FC236}">
                <a16:creationId xmlns:a16="http://schemas.microsoft.com/office/drawing/2014/main" id="{043FB9DC-6C80-4126-899C-692C6008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33625"/>
            <a:ext cx="1905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19050">
            <a:solidFill>
              <a:srgbClr val="4CB5F5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65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理由を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65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言葉にする</a:t>
            </a:r>
          </a:p>
        </p:txBody>
      </p:sp>
      <p:sp>
        <p:nvSpPr>
          <p:cNvPr id="12" name="chatgpt-node-3">
            <a:extLst xmlns:a="http://schemas.openxmlformats.org/drawingml/2006/main">
              <a:ext uri="{FF2B5EF4-FFF2-40B4-BE49-F238E27FC236}">
                <a16:creationId xmlns:a16="http://schemas.microsoft.com/office/drawing/2014/main" id="{E2386856-FB65-4F5F-9CE3-FB98A899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1905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02C54"/>
          </a:solidFill>
          <a:ln xmlns:a="http://schemas.openxmlformats.org/drawingml/2006/main" w="19050">
            <a:solidFill>
              <a:srgbClr val="002C54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65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Second Brainへ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65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残す</a:t>
            </a:r>
          </a:p>
        </p:txBody>
      </p:sp>
      <p:sp>
        <p:nvSpPr>
          <p:cNvPr id="13" name="chatgpt-node-4">
            <a:extLst xmlns:a="http://schemas.openxmlformats.org/drawingml/2006/main">
              <a:ext uri="{FF2B5EF4-FFF2-40B4-BE49-F238E27FC236}">
                <a16:creationId xmlns:a16="http://schemas.microsoft.com/office/drawing/2014/main" id="{0A5A3701-9A2B-4CE3-ABCE-86870A2A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33625"/>
            <a:ext cx="1905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02C54"/>
          </a:solidFill>
          <a:ln xmlns:a="http://schemas.openxmlformats.org/drawingml/2006/main" w="19050">
            <a:solidFill>
              <a:srgbClr val="002C54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65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AIと仲間が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65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再利用</a:t>
            </a:r>
          </a:p>
        </p:txBody>
      </p:sp>
      <p:sp>
        <p:nvSpPr>
          <p:cNvPr id="14" name="voice-chat-callout">
            <a:extLst xmlns:a="http://schemas.openxmlformats.org/drawingml/2006/main">
              <a:ext uri="{FF2B5EF4-FFF2-40B4-BE49-F238E27FC236}">
                <a16:creationId xmlns:a16="http://schemas.microsoft.com/office/drawing/2014/main" id="{DE3268B3-046C-40A8-9C92-D7797846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72000"/>
            <a:ext cx="6477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CE5957"/>
          </a:solidFill>
          <a:ln xmlns:a="http://schemas.openxmlformats.org/drawingml/2006/main" w="9525">
            <a:solidFill>
              <a:srgbClr val="CE5957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2175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音声会話もけっこういいよ！</a:t>
            </a:r>
          </a:p>
        </p:txBody>
      </p:sp>
      <p:sp>
        <p:nvSpPr>
          <p:cNvPr id="15" name="voice-chat-caption">
            <a:extLst xmlns:a="http://schemas.openxmlformats.org/drawingml/2006/main">
              <a:ext uri="{FF2B5EF4-FFF2-40B4-BE49-F238E27FC236}">
                <a16:creationId xmlns:a16="http://schemas.microsoft.com/office/drawing/2014/main" id="{34EE91C2-225E-4DA2-935C-4D368140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292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65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話すと、曖昧だった感覚をほぐして言葉にしやすい</a:t>
            </a:r>
          </a:p>
        </p:txBody>
      </p:sp>
    </p:spTree>
    <p:extLst>
      <p:ext uri="{BB962C8B-B14F-4D97-AF65-F5344CB8AC3E}">
        <p14:creationId xmlns:p14="http://schemas.microsoft.com/office/powerpoint/2010/main" val="37222576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5386CD39-55B8-B28A-0D62-14C7B839A4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探求を、会社の循環にする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3BEFFFDD-FCC9-D8C8-B65D-FD14962180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43C20B8F-57B8-DF6D-02C6-2494E3EAA67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磨いたセンスを言語化し、AIと仲間へ渡して、また探求する。</a:t>
            </a:r>
          </a:p>
        </p:txBody>
      </p:sp>
      <p:sp>
        <p:nvSpPr>
          <p:cNvPr id="5" name="cycle-arrow-0">
            <a:extLst xmlns:a="http://schemas.openxmlformats.org/drawingml/2006/main">
              <a:ext uri="{FF2B5EF4-FFF2-40B4-BE49-F238E27FC236}">
                <a16:creationId xmlns:a16="http://schemas.microsoft.com/office/drawing/2014/main" id="{F6582FA0-5595-4583-94FE-297D9440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43125"/>
            <a:ext cx="80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4CB5F5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3300" b="1">
                <a:solidFill>
                  <a:srgbClr val="4CB5F5"/>
                </a:solidFill>
                <a:latin typeface="游ゴシック"/>
                <a:ea typeface="游ゴシック"/>
                <a:cs typeface="游ゴシック"/>
              </a:rPr>
              <a:t>→</a:t>
            </a:r>
          </a:p>
        </p:txBody>
      </p:sp>
      <p:sp>
        <p:nvSpPr>
          <p:cNvPr id="6" name="cycle-arrow-1">
            <a:extLst xmlns:a="http://schemas.openxmlformats.org/drawingml/2006/main">
              <a:ext uri="{FF2B5EF4-FFF2-40B4-BE49-F238E27FC236}">
                <a16:creationId xmlns:a16="http://schemas.microsoft.com/office/drawing/2014/main" id="{4797A2E5-E9EE-4E40-8455-A21CDF2A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80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4CB5F5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3300" b="1">
                <a:solidFill>
                  <a:srgbClr val="4CB5F5"/>
                </a:solidFill>
                <a:latin typeface="游ゴシック"/>
                <a:ea typeface="游ゴシック"/>
                <a:cs typeface="游ゴシック"/>
              </a:rPr>
              <a:t>↓</a:t>
            </a:r>
          </a:p>
        </p:txBody>
      </p:sp>
      <p:sp>
        <p:nvSpPr>
          <p:cNvPr id="7" name="cycle-arrow-2">
            <a:extLst xmlns:a="http://schemas.openxmlformats.org/drawingml/2006/main">
              <a:ext uri="{FF2B5EF4-FFF2-40B4-BE49-F238E27FC236}">
                <a16:creationId xmlns:a16="http://schemas.microsoft.com/office/drawing/2014/main" id="{D005EFB6-30B7-474C-80D2-2F77AD53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672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4CB5F5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3300" b="1">
                <a:solidFill>
                  <a:srgbClr val="4CB5F5"/>
                </a:solidFill>
                <a:latin typeface="游ゴシック"/>
                <a:ea typeface="游ゴシック"/>
                <a:cs typeface="游ゴシック"/>
              </a:rPr>
              <a:t>←</a:t>
            </a:r>
          </a:p>
        </p:txBody>
      </p:sp>
      <p:sp>
        <p:nvSpPr>
          <p:cNvPr id="8" name="cycle-arrow-3">
            <a:extLst xmlns:a="http://schemas.openxmlformats.org/drawingml/2006/main">
              <a:ext uri="{FF2B5EF4-FFF2-40B4-BE49-F238E27FC236}">
                <a16:creationId xmlns:a16="http://schemas.microsoft.com/office/drawing/2014/main" id="{A1DB42A4-7FD9-4F99-9A4B-67763841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80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4CB5F5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3300" b="1">
                <a:solidFill>
                  <a:srgbClr val="4CB5F5"/>
                </a:solidFill>
                <a:latin typeface="游ゴシック"/>
                <a:ea typeface="游ゴシック"/>
                <a:cs typeface="游ゴシック"/>
              </a:rPr>
              <a:t>↑</a:t>
            </a:r>
          </a:p>
        </p:txBody>
      </p:sp>
      <p:sp>
        <p:nvSpPr>
          <p:cNvPr id="9" name="cycle-arrow-4">
            <a:extLst xmlns:a="http://schemas.openxmlformats.org/drawingml/2006/main">
              <a:ext uri="{FF2B5EF4-FFF2-40B4-BE49-F238E27FC236}">
                <a16:creationId xmlns:a16="http://schemas.microsoft.com/office/drawing/2014/main" id="{D79AAF8A-D037-4F1F-AC0E-D107BDBA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43125"/>
            <a:ext cx="80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4CB5F5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3300" b="1">
                <a:solidFill>
                  <a:srgbClr val="4CB5F5"/>
                </a:solidFill>
                <a:latin typeface="游ゴシック"/>
                <a:ea typeface="游ゴシック"/>
                <a:cs typeface="游ゴシック"/>
              </a:rPr>
              <a:t>↗</a:t>
            </a:r>
          </a:p>
        </p:txBody>
      </p:sp>
      <p:sp>
        <p:nvSpPr>
          <p:cNvPr id="10" name="contribute-0">
            <a:extLst xmlns:a="http://schemas.openxmlformats.org/drawingml/2006/main">
              <a:ext uri="{FF2B5EF4-FFF2-40B4-BE49-F238E27FC236}">
                <a16:creationId xmlns:a16="http://schemas.microsoft.com/office/drawing/2014/main" id="{8B34B2CA-73E0-477E-A696-F163A37A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2476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2C54"/>
          </a:solidFill>
          <a:ln xmlns:a="http://schemas.openxmlformats.org/drawingml/2006/main" w="19050">
            <a:solidFill>
              <a:srgbClr val="002C54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80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探求する</a:t>
            </a:r>
          </a:p>
        </p:txBody>
      </p:sp>
      <p:sp>
        <p:nvSpPr>
          <p:cNvPr id="11" name="contribute-1">
            <a:extLst xmlns:a="http://schemas.openxmlformats.org/drawingml/2006/main">
              <a:ext uri="{FF2B5EF4-FFF2-40B4-BE49-F238E27FC236}">
                <a16:creationId xmlns:a16="http://schemas.microsoft.com/office/drawing/2014/main" id="{2FDEDB84-7FB0-47FD-9FFA-3D67348E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14625"/>
            <a:ext cx="2571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19050">
            <a:solidFill>
              <a:srgbClr val="4CB5F5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80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センスを磨く</a:t>
            </a:r>
          </a:p>
        </p:txBody>
      </p:sp>
      <p:sp>
        <p:nvSpPr>
          <p:cNvPr id="12" name="contribute-2">
            <a:extLst xmlns:a="http://schemas.openxmlformats.org/drawingml/2006/main">
              <a:ext uri="{FF2B5EF4-FFF2-40B4-BE49-F238E27FC236}">
                <a16:creationId xmlns:a16="http://schemas.microsoft.com/office/drawing/2014/main" id="{A8DB5CCC-59B1-4D7D-962E-5F6C2EB6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76750"/>
            <a:ext cx="2571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19050">
            <a:solidFill>
              <a:srgbClr val="4CB5F5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80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言語化する</a:t>
            </a:r>
          </a:p>
        </p:txBody>
      </p:sp>
      <p:sp>
        <p:nvSpPr>
          <p:cNvPr id="13" name="contribute-3">
            <a:extLst xmlns:a="http://schemas.openxmlformats.org/drawingml/2006/main">
              <a:ext uri="{FF2B5EF4-FFF2-40B4-BE49-F238E27FC236}">
                <a16:creationId xmlns:a16="http://schemas.microsoft.com/office/drawing/2014/main" id="{FD47E7AB-6929-43E0-8A2C-F7BC8CB9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476750"/>
            <a:ext cx="2571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2C54"/>
          </a:solidFill>
          <a:ln xmlns:a="http://schemas.openxmlformats.org/drawingml/2006/main" w="19050">
            <a:solidFill>
              <a:srgbClr val="002C54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80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会社に残す</a:t>
            </a:r>
          </a:p>
        </p:txBody>
      </p:sp>
      <p:sp>
        <p:nvSpPr>
          <p:cNvPr id="14" name="contribute-4">
            <a:extLst xmlns:a="http://schemas.openxmlformats.org/drawingml/2006/main">
              <a:ext uri="{FF2B5EF4-FFF2-40B4-BE49-F238E27FC236}">
                <a16:creationId xmlns:a16="http://schemas.microsoft.com/office/drawing/2014/main" id="{9A339BF5-7DBC-4C43-98AC-80A85F8F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14625"/>
            <a:ext cx="2571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19050">
            <a:solidFill>
              <a:srgbClr val="4CB5F5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80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AIと仲間が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80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再利用する</a:t>
            </a:r>
          </a:p>
        </p:txBody>
      </p:sp>
      <p:sp>
        <p:nvSpPr>
          <p:cNvPr id="15" name="contribute-center">
            <a:extLst xmlns:a="http://schemas.openxmlformats.org/drawingml/2006/main">
              <a:ext uri="{FF2B5EF4-FFF2-40B4-BE49-F238E27FC236}">
                <a16:creationId xmlns:a16="http://schemas.microsoft.com/office/drawing/2014/main" id="{E0C259CC-E539-4A72-937B-9B864E14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E5957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2100" b="1">
                <a:solidFill>
                  <a:srgbClr val="CE5957"/>
                </a:solidFill>
                <a:latin typeface="游ゴシック"/>
                <a:ea typeface="游ゴシック"/>
                <a:cs typeface="游ゴシック"/>
              </a:rPr>
              <a:t>学びを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CE5957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2100" b="1">
                <a:solidFill>
                  <a:srgbClr val="CE5957"/>
                </a:solidFill>
                <a:latin typeface="游ゴシック"/>
                <a:ea typeface="游ゴシック"/>
                <a:cs typeface="游ゴシック"/>
              </a:rPr>
              <a:t>会社の資産へ</a:t>
            </a:r>
          </a:p>
        </p:txBody>
      </p:sp>
      <p:sp>
        <p:nvSpPr>
          <p:cNvPr id="16" name="contribute-caption">
            <a:extLst xmlns:a="http://schemas.openxmlformats.org/drawingml/2006/main">
              <a:ext uri="{FF2B5EF4-FFF2-40B4-BE49-F238E27FC236}">
                <a16:creationId xmlns:a16="http://schemas.microsoft.com/office/drawing/2014/main" id="{4DC094B8-7DF4-4A68-AF1E-A673309E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72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650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成果物だけでなく、次の探求に使える情報まで残す</a:t>
            </a:r>
          </a:p>
        </p:txBody>
      </p:sp>
    </p:spTree>
    <p:extLst>
      <p:ext uri="{BB962C8B-B14F-4D97-AF65-F5344CB8AC3E}">
        <p14:creationId xmlns:p14="http://schemas.microsoft.com/office/powerpoint/2010/main" val="37222576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5386CD39-55B8-B28A-0D62-14C7B839A4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ハンズオンですること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3BEFFFDD-FCC9-D8C8-B65D-FD14962180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0F7333B-44AC-F7E9-D49D-FE92F45E0477}" type="slidenum">
              <a:t>17</a:t>
            </a:fld>
            <a:endParaRPr/>
          </a:p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43C20B8F-57B8-DF6D-02C6-2494E3EAA67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自分の業務をAIに教え、新しいセッションで実行できるか確かめる。</a:t>
            </a:r>
          </a:p>
        </p:txBody>
      </p:sp>
      <p:sp>
        <p:nvSpPr>
          <p:cNvPr id="5" name="work-sense-list">
            <a:extLst xmlns:a="http://schemas.openxmlformats.org/drawingml/2006/main">
              <a:ext uri="{FF2B5EF4-FFF2-40B4-BE49-F238E27FC236}">
                <a16:creationId xmlns:a16="http://schemas.microsoft.com/office/drawing/2014/main" id="{099FBF35-5F23-4ABF-8289-35F95189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57375"/>
            <a:ext cx="62865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2">
              <a:spcAft>
                <a:spcPts val="12"/>
              </a:spcAft>
              <a:buChar char="•"/>
              <a:defRPr sz="1875">
                <a:solidFill>
                  <a:srgbClr val="212121"/>
                </a:solidFill>
                <a:latin typeface="游ゴシック"/>
                <a:ea typeface="游ゴシック"/>
                <a:cs typeface="游ゴシック"/>
              </a:defRPr>
            </a:pPr>
            <a:r>
              <a:t>1. 自分の業務をChatGPTに説明する</a:t>
            </a:r>
          </a:p>
          <a:p xmlns:a="http://schemas.openxmlformats.org/drawingml/2006/main">
            <a:pPr marL="24" indent="-12">
              <a:spcAft>
                <a:spcPts val="12"/>
              </a:spcAft>
              <a:buChar char="•"/>
              <a:defRPr sz="1875">
                <a:solidFill>
                  <a:srgbClr val="212121"/>
                </a:solidFill>
                <a:latin typeface="游ゴシック"/>
                <a:ea typeface="游ゴシック"/>
                <a:cs typeface="游ゴシック"/>
              </a:defRPr>
            </a:pPr>
            <a:r>
              <a:t>2. 目的・画面・手順・判断・完了条件を言葉にする</a:t>
            </a:r>
          </a:p>
          <a:p xmlns:a="http://schemas.openxmlformats.org/drawingml/2006/main">
            <a:pPr marL="24" indent="-12">
              <a:spcAft>
                <a:spcPts val="12"/>
              </a:spcAft>
              <a:buChar char="•"/>
              <a:defRPr sz="1875">
                <a:solidFill>
                  <a:srgbClr val="212121"/>
                </a:solidFill>
                <a:latin typeface="游ゴシック"/>
                <a:ea typeface="游ゴシック"/>
                <a:cs typeface="游ゴシック"/>
              </a:defRPr>
            </a:pPr>
            <a:r>
              <a:t>3. AIと壁打ちし、Skillにまとめる</a:t>
            </a:r>
          </a:p>
          <a:p xmlns:a="http://schemas.openxmlformats.org/drawingml/2006/main">
            <a:pPr marL="24" indent="-12">
              <a:spcAft>
                <a:spcPts val="12"/>
              </a:spcAft>
              <a:buChar char="•"/>
              <a:defRPr sz="1875">
                <a:solidFill>
                  <a:srgbClr val="212121"/>
                </a:solidFill>
                <a:latin typeface="游ゴシック"/>
                <a:ea typeface="游ゴシック"/>
                <a:cs typeface="游ゴシック"/>
              </a:defRPr>
            </a:pPr>
            <a:r>
              <a:t>4. 新しいAIセッションでSkillだけを渡して実行する</a:t>
            </a:r>
          </a:p>
        </p:txBody>
      </p:sp>
      <p:sp>
        <p:nvSpPr>
          <p:cNvPr id="6" name="work-sense-quote">
            <a:extLst xmlns:a="http://schemas.openxmlformats.org/drawingml/2006/main">
              <a:ext uri="{FF2B5EF4-FFF2-40B4-BE49-F238E27FC236}">
                <a16:creationId xmlns:a16="http://schemas.microsoft.com/office/drawing/2014/main" id="{7333096B-AC70-40EE-A5F0-A1611C8E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3714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02C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225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3225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つくって</a:t>
            </a:r>
          </a:p>
          <a:p xmlns:a="http://schemas.openxmlformats.org/drawingml/2006/main">
            <a:pPr algn="ctr">
              <a:buNone/>
              <a:defRPr sz="3225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3225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終わりにしない</a:t>
            </a:r>
          </a:p>
        </p:txBody>
      </p:sp>
      <p:sp>
        <p:nvSpPr>
          <p:cNvPr id="7" name="work-sense-caption">
            <a:extLst xmlns:a="http://schemas.openxmlformats.org/drawingml/2006/main">
              <a:ext uri="{FF2B5EF4-FFF2-40B4-BE49-F238E27FC236}">
                <a16:creationId xmlns:a16="http://schemas.microsoft.com/office/drawing/2014/main" id="{40C71511-9C17-4C5E-B197-DBA4B13F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05250"/>
            <a:ext cx="3524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950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初見のAIが動けるかまで</a:t>
            </a:r>
          </a:p>
          <a:p xmlns:a="http://schemas.openxmlformats.org/drawingml/2006/main">
            <a:pPr algn="ctr">
              <a:buNone/>
              <a:defRPr sz="1950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950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確かめる</a:t>
            </a:r>
          </a:p>
        </p:txBody>
      </p:sp>
    </p:spTree>
    <p:extLst>
      <p:ext uri="{BB962C8B-B14F-4D97-AF65-F5344CB8AC3E}">
        <p14:creationId xmlns:p14="http://schemas.microsoft.com/office/powerpoint/2010/main" val="37222576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5386CD39-55B8-B28A-0D62-14C7B839A4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Skillにするコツ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3BEFFFDD-FCC9-D8C8-B65D-FD14962180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C6C81E-38B9-7560-621D-5A151A79DF9B}" type="slidenum">
              <a:t>18</a:t>
            </a:fld>
            <a:endParaRPr/>
          </a:p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43C20B8F-57B8-DF6D-02C6-2494E3EAA67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短く、迷わず辿れる構造にする。</a:t>
            </a:r>
          </a:p>
        </p:txBody>
      </p:sp>
      <p:sp>
        <p:nvSpPr>
          <p:cNvPr id="5" name="human-sense">
            <a:extLst xmlns:a="http://schemas.openxmlformats.org/drawingml/2006/main">
              <a:ext uri="{FF2B5EF4-FFF2-40B4-BE49-F238E27FC236}">
                <a16:creationId xmlns:a16="http://schemas.microsoft.com/office/drawing/2014/main" id="{4A0F9FEC-E00A-4917-98B2-17E0AFDF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2197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09550" tIns="152400" rIns="209550" bIns="1524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游ゴシック"/>
                <a:ea typeface="游ゴシック"/>
                <a:cs typeface="游ゴシック"/>
              </a:defRPr>
            </a:pPr>
            <a:r>
              <a:rPr sz="2025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構造</a:t>
            </a:r>
          </a:p>
          <a:p xmlns:a="http://schemas.openxmlformats.org/drawingml/2006/main">
            <a:pPr>
              <a:buNone/>
              <a:defRPr>
                <a:latin typeface="游ゴシック"/>
                <a:ea typeface="游ゴシック"/>
                <a:cs typeface="游ゴシック"/>
              </a:defRPr>
            </a:pPr>
            <a:r>
              <a:rPr sz="1650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1ページ1目的</a:t>
            </a:r>
          </a:p>
          <a:p xmlns:a="http://schemas.openxmlformats.org/drawingml/2006/main">
            <a:pPr>
              <a:buNone/>
              <a:defRPr>
                <a:latin typeface="游ゴシック"/>
                <a:ea typeface="游ゴシック"/>
                <a:cs typeface="游ゴシック"/>
              </a:defRPr>
            </a:pPr>
            <a:r>
              <a:rPr sz="1650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分岐・詳細は別ページへ</a:t>
            </a:r>
          </a:p>
          <a:p xmlns:a="http://schemas.openxmlformats.org/drawingml/2006/main">
            <a:pPr>
              <a:buNone/>
              <a:defRPr>
                <a:latin typeface="游ゴシック"/>
                <a:ea typeface="游ゴシック"/>
                <a:cs typeface="游ゴシック"/>
              </a:defRPr>
            </a:pPr>
            <a:r>
              <a:rPr sz="1650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共通情報はSecond Brainを参照</a:t>
            </a:r>
          </a:p>
        </p:txBody>
      </p:sp>
      <p:sp>
        <p:nvSpPr>
          <p:cNvPr id="6" name="ai-input">
            <a:extLst xmlns:a="http://schemas.openxmlformats.org/drawingml/2006/main">
              <a:ext uri="{FF2B5EF4-FFF2-40B4-BE49-F238E27FC236}">
                <a16:creationId xmlns:a16="http://schemas.microsoft.com/office/drawing/2014/main" id="{83C86CA4-A76A-46CE-8353-124B2458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2197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09550" tIns="152400" rIns="209550" bIns="1524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游ゴシック"/>
                <a:ea typeface="游ゴシック"/>
                <a:cs typeface="游ゴシック"/>
              </a:defRPr>
            </a:pPr>
            <a:r>
              <a:rPr sz="2025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書き方</a:t>
            </a:r>
          </a:p>
          <a:p xmlns:a="http://schemas.openxmlformats.org/drawingml/2006/main">
            <a:pPr>
              <a:buNone/>
              <a:defRPr>
                <a:latin typeface="游ゴシック"/>
                <a:ea typeface="游ゴシック"/>
                <a:cs typeface="游ゴシック"/>
              </a:defRPr>
            </a:pPr>
            <a:r>
              <a:rPr sz="165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重複・余分な説明は削る</a:t>
            </a:r>
          </a:p>
          <a:p xmlns:a="http://schemas.openxmlformats.org/drawingml/2006/main">
            <a:pPr>
              <a:buNone/>
              <a:defRPr>
                <a:latin typeface="游ゴシック"/>
                <a:ea typeface="游ゴシック"/>
                <a:cs typeface="游ゴシック"/>
              </a:defRPr>
            </a:pPr>
            <a:r>
              <a:rPr sz="165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STEP 1 / STEP 2で</a:t>
            </a:r>
          </a:p>
          <a:p xmlns:a="http://schemas.openxmlformats.org/drawingml/2006/main">
            <a:pPr>
              <a:buNone/>
              <a:defRPr>
                <a:latin typeface="游ゴシック"/>
                <a:ea typeface="游ゴシック"/>
                <a:cs typeface="游ゴシック"/>
              </a:defRPr>
            </a:pPr>
            <a:r>
              <a:rPr sz="165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操作と判断を順に書く</a:t>
            </a:r>
          </a:p>
        </p:txBody>
      </p:sp>
      <p:sp>
        <p:nvSpPr>
          <p:cNvPr id="7" name="sense-language-callout">
            <a:extLst xmlns:a="http://schemas.openxmlformats.org/drawingml/2006/main">
              <a:ext uri="{FF2B5EF4-FFF2-40B4-BE49-F238E27FC236}">
                <a16:creationId xmlns:a16="http://schemas.microsoft.com/office/drawing/2014/main" id="{FFEB439C-F9DD-47B9-BC4D-0DED2613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8763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E5957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875" b="1">
                <a:solidFill>
                  <a:srgbClr val="CE5957"/>
                </a:solidFill>
                <a:latin typeface="游ゴシック"/>
                <a:ea typeface="游ゴシック"/>
                <a:cs typeface="游ゴシック"/>
              </a:rPr>
              <a:t>新しいAIでSkillだけを渡し、動けば合格</a:t>
            </a:r>
          </a:p>
        </p:txBody>
      </p:sp>
    </p:spTree>
    <p:extLst>
      <p:ext uri="{BB962C8B-B14F-4D97-AF65-F5344CB8AC3E}">
        <p14:creationId xmlns:p14="http://schemas.microsoft.com/office/powerpoint/2010/main" val="37222576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5386CD39-55B8-B28A-0D62-14C7B839A4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一次情報源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3BEFFFDD-FCC9-D8C8-B65D-FD14962180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F91274-D221-1BB4-3BF9-836E3AD31EBE}" type="slidenum">
              <a:t>19</a:t>
            </a:fld>
            <a:endParaRPr/>
          </a:p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43C20B8F-57B8-DF6D-02C6-2494E3EAA67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暗黙知・熟練・生成AIの学習に関する一次情報。</a:t>
            </a:r>
          </a:p>
        </p:txBody>
      </p:sp>
      <p:sp>
        <p:nvSpPr>
          <p:cNvPr id="5" name="source-polanyi">
            <a:extLst xmlns:a="http://schemas.openxmlformats.org/drawingml/2006/main">
              <a:ext uri="{FF2B5EF4-FFF2-40B4-BE49-F238E27FC236}">
                <a16:creationId xmlns:a16="http://schemas.microsoft.com/office/drawing/2014/main" id="{1F1698B5-F762-4FB5-B605-986266E5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212121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725" b="1">
                <a:solidFill>
                  <a:srgbClr val="002C54"/>
                </a:solidFill>
              </a:rPr>
              <a:t>Michael Polanyi｜The Tacit Dimension
</a:t>
            </a:r>
            <a:r>
              <a:rPr sz="1613" u="sng">
                <a:solidFill>
                  <a:srgbClr val="207CA3"/>
                </a:solidFill>
                <a:hlinkClick xmlns:r="http://schemas.openxmlformats.org/officeDocument/2006/relationships" r:id="Rb7be71f707394a0a"/>
              </a:rPr>
              <a:t>https://press.uchicago.edu/ucp/books/book/chicago/T/bo6035368.html</a:t>
            </a:r>
          </a:p>
        </p:txBody>
      </p:sp>
      <p:sp>
        <p:nvSpPr>
          <p:cNvPr id="6" name="source-kahneman">
            <a:extLst xmlns:a="http://schemas.openxmlformats.org/drawingml/2006/main">
              <a:ext uri="{FF2B5EF4-FFF2-40B4-BE49-F238E27FC236}">
                <a16:creationId xmlns:a16="http://schemas.microsoft.com/office/drawing/2014/main" id="{DF5B9AB9-901A-487A-B949-19DEFFD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212121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725" b="1">
                <a:solidFill>
                  <a:srgbClr val="002C54"/>
                </a:solidFill>
              </a:rPr>
              <a:t>Kahneman &amp; Klein (2009)｜Conditions for intuitive expertise
</a:t>
            </a:r>
            <a:r>
              <a:rPr sz="1613" u="sng">
                <a:solidFill>
                  <a:srgbClr val="207CA3"/>
                </a:solidFill>
                <a:hlinkClick xmlns:r="http://schemas.openxmlformats.org/officeDocument/2006/relationships" r:id="R3faf20cebdc442d2"/>
              </a:rPr>
              <a:t>https://pubmed.ncbi.nlm.nih.gov/19739881/</a:t>
            </a:r>
          </a:p>
        </p:txBody>
      </p:sp>
      <p:sp>
        <p:nvSpPr>
          <p:cNvPr id="7" name="source-gpt4">
            <a:extLst xmlns:a="http://schemas.openxmlformats.org/drawingml/2006/main">
              <a:ext uri="{FF2B5EF4-FFF2-40B4-BE49-F238E27FC236}">
                <a16:creationId xmlns:a16="http://schemas.microsoft.com/office/drawing/2014/main" id="{D2334DF4-D2F7-4B9F-9D20-ABDB1C41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212121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725" b="1">
                <a:solidFill>
                  <a:srgbClr val="002C54"/>
                </a:solidFill>
              </a:rPr>
              <a:t>OpenAI (2023)｜GPT-4 Technical Report
</a:t>
            </a:r>
            <a:r>
              <a:rPr sz="1613" u="sng">
                <a:solidFill>
                  <a:srgbClr val="207CA3"/>
                </a:solidFill>
                <a:hlinkClick xmlns:r="http://schemas.openxmlformats.org/officeDocument/2006/relationships" r:id="Ree30c6dc06db483f"/>
              </a:rPr>
              <a:t>https://arxiv.org/abs/2303.08774</a:t>
            </a:r>
          </a:p>
        </p:txBody>
      </p:sp>
    </p:spTree>
    <p:extLst>
      <p:ext uri="{BB962C8B-B14F-4D97-AF65-F5344CB8AC3E}">
        <p14:creationId xmlns:p14="http://schemas.microsoft.com/office/powerpoint/2010/main" val="37222576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5386CD39-55B8-B28A-0D62-14C7B839A4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構成・画像の出典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3BEFFFDD-FCC9-D8C8-B65D-FD14962180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4E025A-983C-6D44-79C6-4612AACD43FC}" type="slidenum">
              <a:t>20</a:t>
            </a:fld>
            <a:endParaRPr/>
          </a:p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43C20B8F-57B8-DF6D-02C6-2494E3EAA67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共有会話、本人からの修正指示、生成済み・提供・既存画像を使用。</a:t>
            </a:r>
          </a:p>
        </p:txBody>
      </p:sp>
      <p:sp>
        <p:nvSpPr>
          <p:cNvPr id="5" name="source-share">
            <a:extLst xmlns:a="http://schemas.openxmlformats.org/drawingml/2006/main">
              <a:ext uri="{FF2B5EF4-FFF2-40B4-BE49-F238E27FC236}">
                <a16:creationId xmlns:a16="http://schemas.microsoft.com/office/drawing/2014/main" id="{5DB0D03D-D37E-46BA-B6E7-5D62D68E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212121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725" b="1">
                <a:solidFill>
                  <a:srgbClr val="002C54"/>
                </a:solidFill>
              </a:rPr>
              <a:t>構成元｜共有ChatGPT会話
</a:t>
            </a:r>
            <a:r>
              <a:rPr sz="1500" u="sng">
                <a:solidFill>
                  <a:srgbClr val="207CA3"/>
                </a:solidFill>
                <a:hlinkClick xmlns:r="http://schemas.openxmlformats.org/officeDocument/2006/relationships" r:id="R1fa521d2e010435f"/>
              </a:rPr>
              <a:t>https://chatgpt.com/share/e/6a9250c4-a114-800d-a4e5-cddfec75de1d</a:t>
            </a:r>
          </a:p>
        </p:txBody>
      </p:sp>
      <p:sp>
        <p:nvSpPr>
          <p:cNvPr id="6" name="source-undraw-novice">
            <a:extLst xmlns:a="http://schemas.openxmlformats.org/drawingml/2006/main">
              <a:ext uri="{FF2B5EF4-FFF2-40B4-BE49-F238E27FC236}">
                <a16:creationId xmlns:a16="http://schemas.microsoft.com/office/drawing/2014/main" id="{66437CC2-2EEF-4444-91C8-602CCD22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212121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725" b="1">
                <a:solidFill>
                  <a:srgbClr val="002C54"/>
                </a:solidFill>
              </a:rPr>
              <a:t>スライド9｜unDraw Online learning
</a:t>
            </a:r>
            <a:r>
              <a:rPr sz="1500" u="sng">
                <a:solidFill>
                  <a:srgbClr val="207CA3"/>
                </a:solidFill>
                <a:hlinkClick xmlns:r="http://schemas.openxmlformats.org/officeDocument/2006/relationships" r:id="Rf50b2216c3e9423c"/>
              </a:rPr>
              <a:t>https://undraw.co/illustration/online-learning_tgmv</a:t>
            </a:r>
          </a:p>
        </p:txBody>
      </p:sp>
      <p:sp>
        <p:nvSpPr>
          <p:cNvPr id="7" name="source-undraw-expert">
            <a:extLst xmlns:a="http://schemas.openxmlformats.org/drawingml/2006/main">
              <a:ext uri="{FF2B5EF4-FFF2-40B4-BE49-F238E27FC236}">
                <a16:creationId xmlns:a16="http://schemas.microsoft.com/office/drawing/2014/main" id="{852849B7-A32E-4A6D-8D01-1A4BFA31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212121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725" b="1">
                <a:solidFill>
                  <a:srgbClr val="002C54"/>
                </a:solidFill>
              </a:rPr>
              <a:t>スライド9｜unDraw File Analysis
</a:t>
            </a:r>
            <a:r>
              <a:rPr sz="1500" u="sng">
                <a:solidFill>
                  <a:srgbClr val="207CA3"/>
                </a:solidFill>
                <a:hlinkClick xmlns:r="http://schemas.openxmlformats.org/officeDocument/2006/relationships" r:id="R798e6b9e7cae47ca"/>
              </a:rPr>
              <a:t>https://undraw.co/illustration/file-analysis_nbtc</a:t>
            </a:r>
          </a:p>
        </p:txBody>
      </p:sp>
      <p:sp>
        <p:nvSpPr>
          <p:cNvPr id="8" name="source-generated">
            <a:extLst xmlns:a="http://schemas.openxmlformats.org/drawingml/2006/main">
              <a:ext uri="{FF2B5EF4-FFF2-40B4-BE49-F238E27FC236}">
                <a16:creationId xmlns:a16="http://schemas.microsoft.com/office/drawing/2014/main" id="{4EF6FECD-D78B-4ED8-92E7-0B1C0C25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575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スライド3・4・10｜本資料で使用している生成済み画像</a:t>
            </a:r>
          </a:p>
        </p:txBody>
      </p:sp>
      <p:sp>
        <p:nvSpPr>
          <p:cNvPr id="9" name="source-provided">
            <a:extLst xmlns:a="http://schemas.openxmlformats.org/drawingml/2006/main">
              <a:ext uri="{FF2B5EF4-FFF2-40B4-BE49-F238E27FC236}">
                <a16:creationId xmlns:a16="http://schemas.microsoft.com/office/drawing/2014/main" id="{9E9FCBF7-91B4-4FA4-8C92-81B4DD02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575" b="1">
                <a:solidFill>
                  <a:srgbClr val="002C54"/>
                </a:solidFill>
                <a:latin typeface="游ゴシック"/>
                <a:ea typeface="游ゴシック"/>
                <a:cs typeface="游ゴシック"/>
              </a:rPr>
              <a:t>スライド11・12｜本人提供画像</a:t>
            </a:r>
          </a:p>
        </p:txBody>
      </p:sp>
      <p:sp>
        <p:nvSpPr>
          <p:cNvPr id="10" name="source-direction">
            <a:extLst xmlns:a="http://schemas.openxmlformats.org/drawingml/2006/main">
              <a:ext uri="{FF2B5EF4-FFF2-40B4-BE49-F238E27FC236}">
                <a16:creationId xmlns:a16="http://schemas.microsoft.com/office/drawing/2014/main" id="{C0970963-16CF-4A29-9E48-F09E79FE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863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5B6770"/>
                </a:solidFill>
                <a:latin typeface="游ゴシック"/>
                <a:ea typeface="游ゴシック"/>
                <a:cs typeface="游ゴシック"/>
              </a:defRPr>
            </a:pPr>
            <a:r>
              <a:rPr sz="1500">
                <a:solidFill>
                  <a:srgbClr val="5B6770"/>
                </a:solidFill>
                <a:latin typeface="游ゴシック"/>
                <a:ea typeface="游ゴシック"/>
                <a:cs typeface="游ゴシック"/>
              </a:rPr>
              <a:t>市川解釈｜本人からの修正指示（2026-08-30）</a:t>
            </a:r>
          </a:p>
        </p:txBody>
      </p:sp>
    </p:spTree>
    <p:extLst>
      <p:ext uri="{BB962C8B-B14F-4D97-AF65-F5344CB8AC3E}">
        <p14:creationId xmlns:p14="http://schemas.microsoft.com/office/powerpoint/2010/main" val="37222576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0999AE3E-0AE7-A10F-E639-E819CEBFDA3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AIに仕事を教えよう</a:t>
            </a:r>
          </a:p>
        </p:txBody>
      </p:sp>
      <p:sp>
        <p:nvSpPr>
          <p:cNvPr id="3" name="字幕 2">
            <a:extLst xmlns:a="http://schemas.openxmlformats.org/drawingml/2006/main">
              <a:ext uri="{FF2B5EF4-FFF2-40B4-BE49-F238E27FC236}">
                <a16:creationId xmlns:a16="http://schemas.microsoft.com/office/drawing/2014/main" id="{4AB36C70-C7B1-D5DF-9E2A-DFCB49F0B55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自分の業務を言語化し、初見のAIでも実行できるSkillにしよう。</a:t>
            </a:r>
            <a:endParaRPr/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9BB8244-D01A-DE0F-559B-BA51461BD4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buNone/>
            </a:pPr>
            <a:r>
              <a:rPr>
                <a:latin typeface="Futura Medium"/>
                <a:ea typeface="Futura Medium"/>
                <a:cs typeface="Futura Medium"/>
              </a:rPr>
              <a:t>© Beyond Next Ventures, Inc.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ED8952-6ED2-467D-B195-56C57B819D1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DF2BE2-2DFA-1C03-677D-BDC2260D6D92}" type="slidenum"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0884620"/>
      </p:ext>
    </p:extLst>
  </p:cSld>
</p:sld>
</file>

<file path=ppt/theme/theme1.xml><?xml version="1.0" encoding="utf-8"?>
<a:theme xmlns:a="http://schemas.openxmlformats.org/drawingml/2006/main" name="Office テーマ">
  <a:themeElements>
    <a:clrScheme name="Beyond01">
      <a:dk1>
        <a:srgbClr val="212121"/>
      </a:dk1>
      <a:lt1>
        <a:srgbClr val="FFFFFF"/>
      </a:lt1>
      <a:dk2>
        <a:srgbClr val="000000"/>
      </a:dk2>
      <a:lt2>
        <a:srgbClr val="EEEEEE"/>
      </a:lt2>
      <a:accent1>
        <a:srgbClr val="002C54"/>
      </a:accent1>
      <a:accent2>
        <a:srgbClr val="207CA3"/>
      </a:accent2>
      <a:accent3>
        <a:srgbClr val="4CB5F5"/>
      </a:accent3>
      <a:accent4>
        <a:srgbClr val="EFB509"/>
      </a:accent4>
      <a:accent5>
        <a:srgbClr val="488A99"/>
      </a:accent5>
      <a:accent6>
        <a:srgbClr val="CE5957"/>
      </a:accent6>
      <a:hlink>
        <a:srgbClr val="7980FF"/>
      </a:hlink>
      <a:folHlink>
        <a:srgbClr val="7980FF"/>
      </a:folHlink>
    </a:clrScheme>
    <a:fontScheme name="ユーザー定義 2">
      <a:majorFont>
        <a:latin typeface="游ゴシック"/>
        <a:ea typeface="游ゴシック"/>
        <a:cs typeface="游ゴシック"/>
      </a:majorFont>
      <a:minorFont>
        <a:latin typeface="游ゴシック"/>
        <a:ea typeface="游ゴシック"/>
        <a:cs typeface=""/>
      </a:minorFont>
    </a:fontScheme>
    <a:fmtScheme name="Beyond0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2026-09-04T03:15:20.3670000Z</dcterms:created>
  <dcterms:modified xsi:type="dcterms:W3CDTF">2026-09-04T03:15:20.3670000Z</dcterms:modified>
</coreProperties>
</file>